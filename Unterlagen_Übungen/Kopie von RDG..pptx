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Canva Sans" charset="1" panose="020B0503030501040103"/>
      <p:regular r:id="rId42"/>
    </p:embeddedFont>
    <p:embeddedFont>
      <p:font typeface="Canva Sans Bold" charset="1" panose="020B0803030501040103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05415" y="1513053"/>
            <a:ext cx="2215664" cy="1872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7"/>
              </a:lnSpc>
              <a:spcBef>
                <a:spcPct val="0"/>
              </a:spcBef>
            </a:pPr>
            <a:r>
              <a:rPr lang="en-US" sz="35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f(S, S)</a:t>
            </a:r>
          </a:p>
          <a:p>
            <a:pPr algn="l">
              <a:lnSpc>
                <a:spcPts val="5017"/>
              </a:lnSpc>
              <a:spcBef>
                <a:spcPct val="0"/>
              </a:spcBef>
            </a:pPr>
            <a:r>
              <a:rPr lang="en-US" sz="35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g(S)</a:t>
            </a:r>
          </a:p>
          <a:p>
            <a:pPr algn="l">
              <a:lnSpc>
                <a:spcPts val="5017"/>
              </a:lnSpc>
              <a:spcBef>
                <a:spcPct val="0"/>
              </a:spcBef>
            </a:pPr>
            <a:r>
              <a:rPr lang="en-US" sz="35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x | y | z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26039" y="1703065"/>
            <a:ext cx="376840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bleitung von  f(g(x), y)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9169" y="604525"/>
            <a:ext cx="2899886" cy="7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recap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4204" y="1534974"/>
            <a:ext cx="15764130" cy="155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Hans hat dem Hund das Leckerli gegeben </a:t>
            </a:r>
            <a:r>
              <a:rPr lang="en-US" sz="44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85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75518" y="2432546"/>
            <a:ext cx="198707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S\NP/(S\NP)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91397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72386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78307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88878" y="2432546"/>
            <a:ext cx="270875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(S\NP)\NP\NP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59032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9169" y="604525"/>
            <a:ext cx="2899886" cy="7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recap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4204" y="1534974"/>
            <a:ext cx="15764130" cy="155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Hans hat dem Hund das Leckerli gegeben </a:t>
            </a:r>
            <a:r>
              <a:rPr lang="en-US" sz="44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85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75518" y="2432546"/>
            <a:ext cx="198707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S\NP/(S\NP)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91397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72386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78307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88878" y="2432546"/>
            <a:ext cx="270875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(S\NP)\NP\NP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59032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AutoShape 11" id="11"/>
          <p:cNvSpPr/>
          <p:nvPr/>
        </p:nvSpPr>
        <p:spPr>
          <a:xfrm>
            <a:off x="5291397" y="3107223"/>
            <a:ext cx="294659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9678307" y="3088173"/>
            <a:ext cx="388383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229098" y="3397972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35903" y="3397972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9169" y="604525"/>
            <a:ext cx="2899886" cy="7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recap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4204" y="1534974"/>
            <a:ext cx="15764130" cy="155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Hans hat dem Hund das Leckerli gegeben </a:t>
            </a:r>
            <a:r>
              <a:rPr lang="en-US" sz="44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85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75518" y="2432546"/>
            <a:ext cx="198707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S\NP/(S\NP)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91397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72386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78307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88878" y="2432546"/>
            <a:ext cx="270875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(S\NP)\NP\NP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59032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AutoShape 11" id="11"/>
          <p:cNvSpPr/>
          <p:nvPr/>
        </p:nvSpPr>
        <p:spPr>
          <a:xfrm>
            <a:off x="5291397" y="3107223"/>
            <a:ext cx="294659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9678307" y="3088173"/>
            <a:ext cx="388383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229098" y="3397972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35903" y="3397972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AutoShape 15" id="15"/>
          <p:cNvSpPr/>
          <p:nvPr/>
        </p:nvSpPr>
        <p:spPr>
          <a:xfrm>
            <a:off x="9678307" y="4127640"/>
            <a:ext cx="725002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2282873" y="4364644"/>
            <a:ext cx="270875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(S\NP)\NP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9169" y="604525"/>
            <a:ext cx="2899886" cy="7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recap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4204" y="1534974"/>
            <a:ext cx="15764130" cy="155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Hans hat dem Hund das Leckerli gegeben </a:t>
            </a:r>
            <a:r>
              <a:rPr lang="en-US" sz="44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85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75518" y="2432546"/>
            <a:ext cx="198707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S\NP/(S\NP)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91397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72386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78307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88878" y="2432546"/>
            <a:ext cx="270875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(S\NP)\NP\NP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59032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AutoShape 11" id="11"/>
          <p:cNvSpPr/>
          <p:nvPr/>
        </p:nvSpPr>
        <p:spPr>
          <a:xfrm>
            <a:off x="5291397" y="3107223"/>
            <a:ext cx="294659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9678307" y="3088173"/>
            <a:ext cx="388383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229098" y="3397972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35903" y="3397972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AutoShape 15" id="15"/>
          <p:cNvSpPr/>
          <p:nvPr/>
        </p:nvSpPr>
        <p:spPr>
          <a:xfrm>
            <a:off x="9678307" y="4127640"/>
            <a:ext cx="725002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2282873" y="4364644"/>
            <a:ext cx="270875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(S\NP)\NP</a:t>
            </a:r>
          </a:p>
        </p:txBody>
      </p:sp>
      <p:sp>
        <p:nvSpPr>
          <p:cNvPr name="AutoShape 17" id="17"/>
          <p:cNvSpPr/>
          <p:nvPr/>
        </p:nvSpPr>
        <p:spPr>
          <a:xfrm>
            <a:off x="5317435" y="5410489"/>
            <a:ext cx="1163693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9622471" y="5955616"/>
            <a:ext cx="270875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9169" y="604525"/>
            <a:ext cx="2899886" cy="7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recap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4204" y="1534974"/>
            <a:ext cx="15764130" cy="155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Hans hat dem Hund das Leckerli gegeben </a:t>
            </a:r>
            <a:r>
              <a:rPr lang="en-US" sz="44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3585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75518" y="2432546"/>
            <a:ext cx="198707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S\NP/(S\NP)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91397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72386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78307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88878" y="2432546"/>
            <a:ext cx="270875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(S\NP)\NP\NP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59032" y="2432546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AutoShape 11" id="11"/>
          <p:cNvSpPr/>
          <p:nvPr/>
        </p:nvSpPr>
        <p:spPr>
          <a:xfrm>
            <a:off x="5291397" y="3107223"/>
            <a:ext cx="294659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9678307" y="3088173"/>
            <a:ext cx="388383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229098" y="3397972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35903" y="3397972"/>
            <a:ext cx="93770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AutoShape 15" id="15"/>
          <p:cNvSpPr/>
          <p:nvPr/>
        </p:nvSpPr>
        <p:spPr>
          <a:xfrm>
            <a:off x="9678307" y="4127640"/>
            <a:ext cx="725002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2282873" y="4364644"/>
            <a:ext cx="270875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(S\NP)\NP</a:t>
            </a:r>
          </a:p>
        </p:txBody>
      </p:sp>
      <p:sp>
        <p:nvSpPr>
          <p:cNvPr name="AutoShape 17" id="17"/>
          <p:cNvSpPr/>
          <p:nvPr/>
        </p:nvSpPr>
        <p:spPr>
          <a:xfrm>
            <a:off x="5317435" y="5410489"/>
            <a:ext cx="1163693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9622471" y="5955616"/>
            <a:ext cx="270875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</a:t>
            </a:r>
          </a:p>
        </p:txBody>
      </p:sp>
      <p:sp>
        <p:nvSpPr>
          <p:cNvPr name="AutoShape 19" id="19"/>
          <p:cNvSpPr/>
          <p:nvPr/>
        </p:nvSpPr>
        <p:spPr>
          <a:xfrm flipV="true">
            <a:off x="2901556" y="7089509"/>
            <a:ext cx="1405281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9046269" y="7699109"/>
            <a:ext cx="82645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S\NP</a:t>
            </a:r>
          </a:p>
        </p:txBody>
      </p:sp>
      <p:sp>
        <p:nvSpPr>
          <p:cNvPr name="AutoShape 21" id="21"/>
          <p:cNvSpPr/>
          <p:nvPr/>
        </p:nvSpPr>
        <p:spPr>
          <a:xfrm flipV="true">
            <a:off x="1054738" y="8744954"/>
            <a:ext cx="158996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8836402" y="8997315"/>
            <a:ext cx="20986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04525"/>
            <a:ext cx="2780824" cy="7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TAG recap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7477" y="5359356"/>
            <a:ext cx="48988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87206" y="6386352"/>
            <a:ext cx="97042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57508" y="1828044"/>
            <a:ext cx="95913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37697" y="2855040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39390" y="2921715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53463" y="4077838"/>
            <a:ext cx="94716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23578" y="4077838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74090" y="5149219"/>
            <a:ext cx="94716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57705" y="4535762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86710" y="5629433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88071" y="6732428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57705" y="6732428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83397" y="5562758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80188" y="7738575"/>
            <a:ext cx="171501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gegeben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1772421" y="5824176"/>
            <a:ext cx="0" cy="61932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5411114" y="7285848"/>
            <a:ext cx="0" cy="4956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5974090" y="2382514"/>
            <a:ext cx="299509" cy="529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3991201" y="5009959"/>
            <a:ext cx="299509" cy="529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6571426" y="2369682"/>
            <a:ext cx="329198" cy="5117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6517647" y="3462586"/>
            <a:ext cx="299509" cy="529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7109845" y="3409306"/>
            <a:ext cx="329198" cy="5117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6388956" y="4543344"/>
            <a:ext cx="19050" cy="5289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4538766" y="5020265"/>
            <a:ext cx="329198" cy="5117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4555349" y="6099820"/>
            <a:ext cx="299509" cy="529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5006298" y="6124645"/>
            <a:ext cx="329198" cy="5117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>
            <a:off x="6249785" y="3077330"/>
            <a:ext cx="4770" cy="2098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9" id="29"/>
          <p:cNvSpPr/>
          <p:nvPr/>
        </p:nvSpPr>
        <p:spPr>
          <a:xfrm flipH="true">
            <a:off x="7820230" y="4339256"/>
            <a:ext cx="4770" cy="2098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 flipH="true">
            <a:off x="4756373" y="6975962"/>
            <a:ext cx="4770" cy="2098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1" id="31"/>
          <p:cNvSpPr/>
          <p:nvPr/>
        </p:nvSpPr>
        <p:spPr>
          <a:xfrm flipH="true">
            <a:off x="4155320" y="5824176"/>
            <a:ext cx="4770" cy="2098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2" id="32"/>
          <p:cNvSpPr txBox="true"/>
          <p:nvPr/>
        </p:nvSpPr>
        <p:spPr>
          <a:xfrm rot="0">
            <a:off x="1321491" y="7534740"/>
            <a:ext cx="90185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</a:t>
            </a:r>
          </a:p>
        </p:txBody>
      </p:sp>
      <p:sp>
        <p:nvSpPr>
          <p:cNvPr name="AutoShape 33" id="33"/>
          <p:cNvSpPr/>
          <p:nvPr/>
        </p:nvSpPr>
        <p:spPr>
          <a:xfrm flipV="true">
            <a:off x="1675801" y="8066235"/>
            <a:ext cx="0" cy="61932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287595" y="8695086"/>
            <a:ext cx="732155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dem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29108" y="2819142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02392" y="4320483"/>
            <a:ext cx="90185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Hund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012448" y="3912813"/>
            <a:ext cx="128174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Leckerli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5304" y="3912813"/>
            <a:ext cx="90185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</a:t>
            </a:r>
          </a:p>
        </p:txBody>
      </p:sp>
      <p:sp>
        <p:nvSpPr>
          <p:cNvPr name="AutoShape 39" id="39"/>
          <p:cNvSpPr/>
          <p:nvPr/>
        </p:nvSpPr>
        <p:spPr>
          <a:xfrm flipV="true">
            <a:off x="1347654" y="3364236"/>
            <a:ext cx="299509" cy="529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1946249" y="3371087"/>
            <a:ext cx="329198" cy="5117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H="true">
            <a:off x="1644778" y="4068861"/>
            <a:ext cx="4770" cy="2098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04525"/>
            <a:ext cx="2780824" cy="7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TAG recap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37511" y="5009802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21698" y="6208410"/>
            <a:ext cx="90185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Hund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7477" y="5359356"/>
            <a:ext cx="48988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7206" y="6386352"/>
            <a:ext cx="97042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7508" y="1828044"/>
            <a:ext cx="95913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37697" y="2855040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39390" y="2921715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3463" y="4077838"/>
            <a:ext cx="94716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23578" y="4077838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74090" y="5149219"/>
            <a:ext cx="94716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57705" y="4535762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86710" y="5629433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88071" y="6732428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57705" y="6732428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83397" y="5562758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80188" y="7738575"/>
            <a:ext cx="171501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gegeben</a:t>
            </a:r>
          </a:p>
        </p:txBody>
      </p:sp>
      <p:sp>
        <p:nvSpPr>
          <p:cNvPr name="AutoShape 19" id="19"/>
          <p:cNvSpPr/>
          <p:nvPr/>
        </p:nvSpPr>
        <p:spPr>
          <a:xfrm flipV="true">
            <a:off x="1772421" y="5824176"/>
            <a:ext cx="0" cy="61932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5411114" y="7285848"/>
            <a:ext cx="0" cy="4956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11656056" y="5554896"/>
            <a:ext cx="299509" cy="529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5974090" y="2382514"/>
            <a:ext cx="299509" cy="529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3991201" y="5009959"/>
            <a:ext cx="299509" cy="529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2254652" y="5561746"/>
            <a:ext cx="329198" cy="5117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6571426" y="2369682"/>
            <a:ext cx="329198" cy="5117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6517647" y="3462586"/>
            <a:ext cx="299509" cy="529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7109845" y="3409306"/>
            <a:ext cx="329198" cy="5117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6388956" y="4543344"/>
            <a:ext cx="19050" cy="5289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4538766" y="5020265"/>
            <a:ext cx="329198" cy="5117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V="true">
            <a:off x="4555349" y="6099820"/>
            <a:ext cx="299509" cy="529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5006298" y="6124645"/>
            <a:ext cx="329198" cy="5117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>
            <a:off x="6249785" y="3077330"/>
            <a:ext cx="4770" cy="2098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 flipH="true">
            <a:off x="7820230" y="4339256"/>
            <a:ext cx="4770" cy="2098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4" id="34"/>
          <p:cNvSpPr/>
          <p:nvPr/>
        </p:nvSpPr>
        <p:spPr>
          <a:xfrm flipH="true">
            <a:off x="4756373" y="6975962"/>
            <a:ext cx="4770" cy="2098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 flipH="true">
            <a:off x="4155320" y="5824176"/>
            <a:ext cx="4770" cy="2098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6" id="36"/>
          <p:cNvSpPr txBox="true"/>
          <p:nvPr/>
        </p:nvSpPr>
        <p:spPr>
          <a:xfrm rot="0">
            <a:off x="10659243" y="1541014"/>
            <a:ext cx="95913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441125" y="2634684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655198" y="3790808"/>
            <a:ext cx="94716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75825" y="4862189"/>
            <a:ext cx="94716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Hat</a:t>
            </a:r>
          </a:p>
        </p:txBody>
      </p:sp>
      <p:sp>
        <p:nvSpPr>
          <p:cNvPr name="AutoShape 40" id="40"/>
          <p:cNvSpPr/>
          <p:nvPr/>
        </p:nvSpPr>
        <p:spPr>
          <a:xfrm flipV="true">
            <a:off x="10072334" y="2095484"/>
            <a:ext cx="903000" cy="8001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11273160" y="2082652"/>
            <a:ext cx="329198" cy="5117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V="true">
            <a:off x="11219382" y="3175556"/>
            <a:ext cx="299509" cy="529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11926503" y="3093526"/>
            <a:ext cx="1171894" cy="72568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flipV="true">
            <a:off x="11090691" y="4256314"/>
            <a:ext cx="19050" cy="5289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1321491" y="7534740"/>
            <a:ext cx="90185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</a:t>
            </a:r>
          </a:p>
        </p:txBody>
      </p:sp>
      <p:sp>
        <p:nvSpPr>
          <p:cNvPr name="AutoShape 46" id="46"/>
          <p:cNvSpPr/>
          <p:nvPr/>
        </p:nvSpPr>
        <p:spPr>
          <a:xfrm flipV="true">
            <a:off x="1675801" y="8066235"/>
            <a:ext cx="0" cy="61932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1287595" y="8695086"/>
            <a:ext cx="732155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dem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830240" y="3110883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587119" y="4243707"/>
            <a:ext cx="97042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Hans</a:t>
            </a:r>
          </a:p>
        </p:txBody>
      </p:sp>
      <p:sp>
        <p:nvSpPr>
          <p:cNvPr name="AutoShape 50" id="50"/>
          <p:cNvSpPr/>
          <p:nvPr/>
        </p:nvSpPr>
        <p:spPr>
          <a:xfrm flipV="true">
            <a:off x="10072334" y="3681531"/>
            <a:ext cx="0" cy="61932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1" id="51"/>
          <p:cNvSpPr txBox="true"/>
          <p:nvPr/>
        </p:nvSpPr>
        <p:spPr>
          <a:xfrm rot="0">
            <a:off x="13073593" y="3863908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523899" y="4803013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795334" y="5990256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387452" y="6996403"/>
            <a:ext cx="171501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gegeben</a:t>
            </a:r>
          </a:p>
        </p:txBody>
      </p:sp>
      <p:sp>
        <p:nvSpPr>
          <p:cNvPr name="AutoShape 55" id="55"/>
          <p:cNvSpPr/>
          <p:nvPr/>
        </p:nvSpPr>
        <p:spPr>
          <a:xfrm flipV="true">
            <a:off x="17018378" y="6543676"/>
            <a:ext cx="0" cy="4956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flipV="true">
            <a:off x="12121540" y="4338105"/>
            <a:ext cx="1085058" cy="58123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>
            <a:off x="13454655" y="4348411"/>
            <a:ext cx="1895474" cy="5117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 flipV="true">
            <a:off x="14841643" y="5351588"/>
            <a:ext cx="807995" cy="53883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15801078" y="5376413"/>
            <a:ext cx="994256" cy="5140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0" id="60"/>
          <p:cNvSpPr txBox="true"/>
          <p:nvPr/>
        </p:nvSpPr>
        <p:spPr>
          <a:xfrm rot="0">
            <a:off x="1529108" y="2819142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202392" y="4320483"/>
            <a:ext cx="90185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Hund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012448" y="3912813"/>
            <a:ext cx="128174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Leckerli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45304" y="3912813"/>
            <a:ext cx="90185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</a:t>
            </a:r>
          </a:p>
        </p:txBody>
      </p:sp>
      <p:sp>
        <p:nvSpPr>
          <p:cNvPr name="AutoShape 64" id="64"/>
          <p:cNvSpPr/>
          <p:nvPr/>
        </p:nvSpPr>
        <p:spPr>
          <a:xfrm flipV="true">
            <a:off x="1347654" y="3364236"/>
            <a:ext cx="299509" cy="529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>
            <a:off x="1946249" y="3371087"/>
            <a:ext cx="329198" cy="5117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flipH="true">
            <a:off x="1644778" y="4068861"/>
            <a:ext cx="4770" cy="2098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7" id="67"/>
          <p:cNvSpPr txBox="true"/>
          <p:nvPr/>
        </p:nvSpPr>
        <p:spPr>
          <a:xfrm rot="0">
            <a:off x="14424502" y="6016348"/>
            <a:ext cx="4841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834845" y="7109400"/>
            <a:ext cx="128174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Leckerli</a:t>
            </a:r>
          </a:p>
        </p:txBody>
      </p:sp>
      <p:sp>
        <p:nvSpPr>
          <p:cNvPr name="AutoShape 69" id="69"/>
          <p:cNvSpPr/>
          <p:nvPr/>
        </p:nvSpPr>
        <p:spPr>
          <a:xfrm flipV="true">
            <a:off x="14243048" y="6561442"/>
            <a:ext cx="299509" cy="5296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>
            <a:off x="14841643" y="6568292"/>
            <a:ext cx="329198" cy="5117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1" id="71"/>
          <p:cNvSpPr txBox="true"/>
          <p:nvPr/>
        </p:nvSpPr>
        <p:spPr>
          <a:xfrm rot="0">
            <a:off x="13666287" y="7200238"/>
            <a:ext cx="90185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</a:t>
            </a:r>
          </a:p>
        </p:txBody>
      </p:sp>
      <p:sp>
        <p:nvSpPr>
          <p:cNvPr name="AutoShape 72" id="72"/>
          <p:cNvSpPr/>
          <p:nvPr/>
        </p:nvSpPr>
        <p:spPr>
          <a:xfrm flipV="true">
            <a:off x="14117216" y="7795725"/>
            <a:ext cx="0" cy="61932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3" id="73"/>
          <p:cNvSpPr txBox="true"/>
          <p:nvPr/>
        </p:nvSpPr>
        <p:spPr>
          <a:xfrm rot="0">
            <a:off x="13826069" y="8491251"/>
            <a:ext cx="58229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222075" y="6208410"/>
            <a:ext cx="90185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</a:t>
            </a:r>
          </a:p>
        </p:txBody>
      </p:sp>
      <p:sp>
        <p:nvSpPr>
          <p:cNvPr name="AutoShape 75" id="75"/>
          <p:cNvSpPr/>
          <p:nvPr/>
        </p:nvSpPr>
        <p:spPr>
          <a:xfrm flipV="true">
            <a:off x="11576385" y="6739905"/>
            <a:ext cx="0" cy="61932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6" id="76"/>
          <p:cNvSpPr txBox="true"/>
          <p:nvPr/>
        </p:nvSpPr>
        <p:spPr>
          <a:xfrm rot="0">
            <a:off x="11188178" y="7368755"/>
            <a:ext cx="732155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dem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04525"/>
            <a:ext cx="6001302" cy="7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als Dependenzbaum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524738"/>
            <a:ext cx="15764130" cy="155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Hans hat dem Hund das Leckerli gegeben </a:t>
            </a:r>
            <a:r>
              <a:rPr lang="en-US" sz="44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72665" y="4052131"/>
            <a:ext cx="556686" cy="55668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604525"/>
            <a:ext cx="6001302" cy="7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als Dependenzbaum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524738"/>
            <a:ext cx="15764130" cy="155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Hans hat dem Hund das Leckerli gegeben </a:t>
            </a:r>
            <a:r>
              <a:rPr lang="en-US" sz="44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23120" y="7400174"/>
            <a:ext cx="556686" cy="55668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54373" y="7400174"/>
            <a:ext cx="556686" cy="55668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07004" y="6440352"/>
            <a:ext cx="556686" cy="55668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75159" y="7400174"/>
            <a:ext cx="556686" cy="55668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673214" y="6440352"/>
            <a:ext cx="556686" cy="55668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272747" y="5143500"/>
            <a:ext cx="556686" cy="55668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701463" y="8102011"/>
            <a:ext cx="0" cy="50845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5713666" y="8102011"/>
            <a:ext cx="0" cy="50845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0172552" y="8102011"/>
            <a:ext cx="0" cy="50845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>
            <a:off x="12466297" y="7221187"/>
            <a:ext cx="19050" cy="1389276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7970605" y="7262222"/>
            <a:ext cx="19050" cy="1389276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>
            <a:off x="3707565" y="4946013"/>
            <a:ext cx="43443" cy="373839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5529368" y="5843799"/>
            <a:ext cx="0" cy="3038314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72665" y="4052131"/>
            <a:ext cx="556686" cy="55668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604525"/>
            <a:ext cx="6001302" cy="7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als Dependenzbaum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524738"/>
            <a:ext cx="15764130" cy="155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Hans hat dem Hund das Leckerli gegeben </a:t>
            </a:r>
            <a:r>
              <a:rPr lang="en-US" sz="44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23120" y="7400174"/>
            <a:ext cx="556686" cy="55668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54373" y="7400174"/>
            <a:ext cx="556686" cy="55668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07004" y="6440352"/>
            <a:ext cx="556686" cy="55668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75159" y="7400174"/>
            <a:ext cx="556686" cy="55668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673214" y="6440352"/>
            <a:ext cx="556686" cy="55668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272747" y="5143500"/>
            <a:ext cx="556686" cy="55668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701463" y="8102011"/>
            <a:ext cx="0" cy="50845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5713666" y="8102011"/>
            <a:ext cx="0" cy="50845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0172552" y="8102011"/>
            <a:ext cx="0" cy="50845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>
            <a:off x="12466297" y="7221187"/>
            <a:ext cx="19050" cy="1389276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7970605" y="7262222"/>
            <a:ext cx="19050" cy="1389276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>
            <a:off x="3707565" y="4946013"/>
            <a:ext cx="43443" cy="373839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5529368" y="5843799"/>
            <a:ext cx="0" cy="3038314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4159504" y="4399915"/>
            <a:ext cx="10862254" cy="92594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H="true">
            <a:off x="1828380" y="4676933"/>
            <a:ext cx="1602961" cy="25442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72665" y="4052131"/>
            <a:ext cx="556686" cy="55668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604525"/>
            <a:ext cx="6001302" cy="7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als Dependenzbaum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524738"/>
            <a:ext cx="15764130" cy="155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Hans hat dem Hund das Leckerli gegeben </a:t>
            </a:r>
            <a:r>
              <a:rPr lang="en-US" sz="44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23120" y="7400174"/>
            <a:ext cx="556686" cy="55668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54373" y="7400174"/>
            <a:ext cx="556686" cy="55668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07004" y="6440352"/>
            <a:ext cx="556686" cy="55668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75159" y="7400174"/>
            <a:ext cx="556686" cy="55668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673214" y="6440352"/>
            <a:ext cx="556686" cy="55668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272747" y="5143500"/>
            <a:ext cx="556686" cy="55668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701463" y="8102011"/>
            <a:ext cx="0" cy="50845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5713666" y="8102011"/>
            <a:ext cx="0" cy="50845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0172552" y="8102011"/>
            <a:ext cx="0" cy="50845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>
            <a:off x="12466297" y="7221187"/>
            <a:ext cx="19050" cy="1389276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7970605" y="7262222"/>
            <a:ext cx="19050" cy="1389276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>
            <a:off x="3707565" y="4946013"/>
            <a:ext cx="43443" cy="373839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5529368" y="5843799"/>
            <a:ext cx="0" cy="3038314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4159504" y="4399915"/>
            <a:ext cx="10862254" cy="92594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H="true">
            <a:off x="1828380" y="4676933"/>
            <a:ext cx="1602961" cy="25442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 flipH="true">
            <a:off x="12953562" y="5724912"/>
            <a:ext cx="2303066" cy="7154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 flipH="true">
            <a:off x="8354160" y="5486079"/>
            <a:ext cx="6718248" cy="9542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72665" y="4052131"/>
            <a:ext cx="556686" cy="55668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604525"/>
            <a:ext cx="6001302" cy="7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als Dependenzbaum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524738"/>
            <a:ext cx="15764130" cy="155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Hans hat dem Hund das Leckerli gegeben </a:t>
            </a:r>
            <a:r>
              <a:rPr lang="en-US" sz="44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23120" y="7400174"/>
            <a:ext cx="556686" cy="55668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54373" y="7400174"/>
            <a:ext cx="556686" cy="55668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07004" y="6440352"/>
            <a:ext cx="556686" cy="55668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75159" y="7400174"/>
            <a:ext cx="556686" cy="55668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673214" y="6440352"/>
            <a:ext cx="556686" cy="55668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272747" y="5143500"/>
            <a:ext cx="556686" cy="55668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701463" y="8102011"/>
            <a:ext cx="0" cy="50845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5713666" y="8102011"/>
            <a:ext cx="0" cy="50845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0172552" y="8102011"/>
            <a:ext cx="0" cy="50845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>
            <a:off x="12466297" y="7221187"/>
            <a:ext cx="19050" cy="1389276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7970605" y="7262222"/>
            <a:ext cx="19050" cy="1389276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>
            <a:off x="3707565" y="4946013"/>
            <a:ext cx="43443" cy="373839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5529368" y="5843799"/>
            <a:ext cx="0" cy="3038314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4159504" y="4399915"/>
            <a:ext cx="10862254" cy="92594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H="true">
            <a:off x="1828380" y="4676933"/>
            <a:ext cx="1602961" cy="25442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 flipH="true">
            <a:off x="12953562" y="5724912"/>
            <a:ext cx="2303066" cy="7154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 flipH="true">
            <a:off x="8354160" y="5486079"/>
            <a:ext cx="6718248" cy="9542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 flipH="true">
            <a:off x="10586676" y="6885084"/>
            <a:ext cx="1467456" cy="6270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 flipH="true">
            <a:off x="6108408" y="6902602"/>
            <a:ext cx="1467456" cy="6270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5411" y="3207342"/>
            <a:ext cx="11171516" cy="570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Signatur Σ: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Symbole Arität.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f|2 hat 2 Kinder, b|1 genau 1, c|0 ist ein Blatt.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Nichtterminale N: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"Zustände", die festlegen, welcher Teilbaum an einer Stelle erlaubt ist (Großbuchstaben).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Regeln: A → f(A₁, …, Aₙ). Die Arität von f bestimmt, wie viele Nichtterminale rechts stehen.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Sprache L(G) ⊆ TΣ: eine Menge von Bäumen, nicht von Strings!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553445" y="2670276"/>
            <a:ext cx="2246799" cy="268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8"/>
              </a:lnSpc>
              <a:spcBef>
                <a:spcPct val="0"/>
              </a:spcBef>
            </a:pPr>
            <a:r>
              <a:rPr lang="en-US" sz="38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f(A, S)</a:t>
            </a:r>
          </a:p>
          <a:p>
            <a:pPr algn="l">
              <a:lnSpc>
                <a:spcPts val="5368"/>
              </a:lnSpc>
              <a:spcBef>
                <a:spcPct val="0"/>
              </a:spcBef>
            </a:pPr>
            <a:r>
              <a:rPr lang="en-US" sz="38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c</a:t>
            </a:r>
          </a:p>
          <a:p>
            <a:pPr algn="l">
              <a:lnSpc>
                <a:spcPts val="5368"/>
              </a:lnSpc>
              <a:spcBef>
                <a:spcPct val="0"/>
              </a:spcBef>
            </a:pPr>
            <a:r>
              <a:rPr lang="en-US" sz="38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→ a</a:t>
            </a:r>
          </a:p>
          <a:p>
            <a:pPr algn="l">
              <a:lnSpc>
                <a:spcPts val="5368"/>
              </a:lnSpc>
              <a:spcBef>
                <a:spcPct val="0"/>
              </a:spcBef>
            </a:pPr>
            <a:r>
              <a:rPr lang="en-US" sz="38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→ 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580640"/>
            <a:ext cx="11171516" cy="7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RTG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5411" y="3207342"/>
            <a:ext cx="9582017" cy="284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Ableitungen: 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Anfangen mit Startsymbol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Nichtterminalsymbol durch Baum auf rechten Seite einer Regel ersetzen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Wenn der Baum nur noch Terminalsymbole enthält, ist er Teil der Sprache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553445" y="2670276"/>
            <a:ext cx="2246799" cy="268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8"/>
              </a:lnSpc>
              <a:spcBef>
                <a:spcPct val="0"/>
              </a:spcBef>
            </a:pPr>
            <a:r>
              <a:rPr lang="en-US" sz="38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f(A, S)</a:t>
            </a:r>
          </a:p>
          <a:p>
            <a:pPr algn="l">
              <a:lnSpc>
                <a:spcPts val="5368"/>
              </a:lnSpc>
              <a:spcBef>
                <a:spcPct val="0"/>
              </a:spcBef>
            </a:pPr>
            <a:r>
              <a:rPr lang="en-US" sz="38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c</a:t>
            </a:r>
          </a:p>
          <a:p>
            <a:pPr algn="l">
              <a:lnSpc>
                <a:spcPts val="5368"/>
              </a:lnSpc>
              <a:spcBef>
                <a:spcPct val="0"/>
              </a:spcBef>
            </a:pPr>
            <a:r>
              <a:rPr lang="en-US" sz="38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→ a</a:t>
            </a:r>
          </a:p>
          <a:p>
            <a:pPr algn="l">
              <a:lnSpc>
                <a:spcPts val="5368"/>
              </a:lnSpc>
              <a:spcBef>
                <a:spcPct val="0"/>
              </a:spcBef>
            </a:pPr>
            <a:r>
              <a:rPr lang="en-US" sz="38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→ 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580640"/>
            <a:ext cx="11171516" cy="7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RTG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972050" y="942975"/>
            <a:ext cx="3287250" cy="467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TG: G</a:t>
            </a:r>
          </a:p>
          <a:p>
            <a:pPr algn="l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f(S, S)   </a:t>
            </a:r>
          </a:p>
          <a:p>
            <a:pPr algn="l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g(S)         </a:t>
            </a:r>
          </a:p>
          <a:p>
            <a:pPr algn="l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x           </a:t>
            </a:r>
          </a:p>
          <a:p>
            <a:pPr algn="l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y          </a:t>
            </a:r>
          </a:p>
          <a:p>
            <a:pPr algn="l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z          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29372" y="6509574"/>
            <a:ext cx="3229928" cy="274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0"/>
              </a:lnSpc>
            </a:pPr>
            <a:r>
              <a:rPr lang="en-US" sz="31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Start: S</a:t>
            </a:r>
          </a:p>
          <a:p>
            <a:pPr algn="l">
              <a:lnSpc>
                <a:spcPts val="4420"/>
              </a:lnSpc>
            </a:pPr>
            <a:r>
              <a:rPr lang="en-US" sz="31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 → f(S,S): f(S,S)</a:t>
            </a:r>
          </a:p>
          <a:p>
            <a:pPr algn="l">
              <a:lnSpc>
                <a:spcPts val="4420"/>
              </a:lnSpc>
              <a:spcBef>
                <a:spcPct val="0"/>
              </a:spcBef>
            </a:pPr>
            <a:r>
              <a:rPr lang="en-US" sz="31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 → g(S): f(g(S),S)</a:t>
            </a:r>
          </a:p>
          <a:p>
            <a:pPr algn="l">
              <a:lnSpc>
                <a:spcPts val="4420"/>
              </a:lnSpc>
              <a:spcBef>
                <a:spcPct val="0"/>
              </a:spcBef>
            </a:pPr>
            <a:r>
              <a:rPr lang="en-US" sz="31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 → x: f(g(x),S)</a:t>
            </a:r>
          </a:p>
          <a:p>
            <a:pPr algn="l">
              <a:lnSpc>
                <a:spcPts val="4420"/>
              </a:lnSpc>
              <a:spcBef>
                <a:spcPct val="0"/>
              </a:spcBef>
            </a:pPr>
            <a:r>
              <a:rPr lang="en-US" sz="31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 → y: f(g(x),y) ✓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029372" y="933450"/>
            <a:ext cx="3229928" cy="459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6"/>
              </a:lnSpc>
              <a:spcBef>
                <a:spcPct val="0"/>
              </a:spcBef>
            </a:pPr>
            <a:r>
              <a:rPr lang="en-US" sz="43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43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TG: G</a:t>
            </a:r>
          </a:p>
          <a:p>
            <a:pPr algn="l">
              <a:lnSpc>
                <a:spcPts val="6156"/>
              </a:lnSpc>
              <a:spcBef>
                <a:spcPct val="0"/>
              </a:spcBef>
            </a:pPr>
            <a:r>
              <a:rPr lang="en-US" sz="43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f(S, S)   </a:t>
            </a:r>
          </a:p>
          <a:p>
            <a:pPr algn="l">
              <a:lnSpc>
                <a:spcPts val="6156"/>
              </a:lnSpc>
              <a:spcBef>
                <a:spcPct val="0"/>
              </a:spcBef>
            </a:pPr>
            <a:r>
              <a:rPr lang="en-US" sz="43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g(S)         </a:t>
            </a:r>
          </a:p>
          <a:p>
            <a:pPr algn="l">
              <a:lnSpc>
                <a:spcPts val="6156"/>
              </a:lnSpc>
              <a:spcBef>
                <a:spcPct val="0"/>
              </a:spcBef>
            </a:pPr>
            <a:r>
              <a:rPr lang="en-US" sz="43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x           </a:t>
            </a:r>
          </a:p>
          <a:p>
            <a:pPr algn="l">
              <a:lnSpc>
                <a:spcPts val="6156"/>
              </a:lnSpc>
              <a:spcBef>
                <a:spcPct val="0"/>
              </a:spcBef>
            </a:pPr>
            <a:r>
              <a:rPr lang="en-US" sz="43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y          </a:t>
            </a:r>
          </a:p>
          <a:p>
            <a:pPr algn="l">
              <a:lnSpc>
                <a:spcPts val="6156"/>
              </a:lnSpc>
              <a:spcBef>
                <a:spcPct val="0"/>
              </a:spcBef>
            </a:pPr>
            <a:r>
              <a:rPr lang="en-US" sz="43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z          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8909"/>
            <a:ext cx="14443026" cy="10344818"/>
          </a:xfrm>
          <a:custGeom>
            <a:avLst/>
            <a:gdLst/>
            <a:ahLst/>
            <a:cxnLst/>
            <a:rect r="r" b="b" t="t" l="l"/>
            <a:pathLst>
              <a:path h="10344818" w="14443026">
                <a:moveTo>
                  <a:pt x="0" y="0"/>
                </a:moveTo>
                <a:lnTo>
                  <a:pt x="14443026" y="0"/>
                </a:lnTo>
                <a:lnTo>
                  <a:pt x="14443026" y="10344818"/>
                </a:lnTo>
                <a:lnTo>
                  <a:pt x="0" y="10344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36628" y="2989137"/>
            <a:ext cx="6622672" cy="4308727"/>
          </a:xfrm>
          <a:custGeom>
            <a:avLst/>
            <a:gdLst/>
            <a:ahLst/>
            <a:cxnLst/>
            <a:rect r="r" b="b" t="t" l="l"/>
            <a:pathLst>
              <a:path h="4308727" w="6622672">
                <a:moveTo>
                  <a:pt x="0" y="0"/>
                </a:moveTo>
                <a:lnTo>
                  <a:pt x="6622672" y="0"/>
                </a:lnTo>
                <a:lnTo>
                  <a:pt x="6622672" y="4308726"/>
                </a:lnTo>
                <a:lnTo>
                  <a:pt x="0" y="43087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150059"/>
            <a:ext cx="182880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Ordnungsannotationen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lösen das Problem, wie man Baumstruktur (wer hängt von wem ab) mit Wortstellung (in welcher Reihenfolge stehen die Wörter) kombiniert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19742"/>
            <a:ext cx="7825431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Symbol:      Bedeutung: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                  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Der Knoten selbst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                    Ertrag des ersten Kindes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                    Ertrag des zweiten Kindes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                    Ertrag des dritten Kindes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usw.              ...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1866" y="773237"/>
            <a:ext cx="17343596" cy="958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Schritt 1: Erträge berechnen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Hans: [Hans] (nur sich selbst)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ein: [ein] (nur sich selbst)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Käsebrot: [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ein, Käsebrot] (Kind + sich selbst)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isst: [Hans, isst, ein, Käsebrot] (alle Wörter)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Schritt 2: Ordnungsannotationen ableiten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Hans: ⟨0⟩ (nur sich selbst)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ein: ⟨0⟩ (nur sich selbst)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Käsebrot: ⟨10⟩ (erst Kind 1="ein", dann sich selbst="Käsebrot")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isst: ⟨102⟩ (erst Kind 1="Hans", dann sich selbst="isst", dann Kind 2="ein Käsebrot")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21541" y="338800"/>
            <a:ext cx="7248078" cy="67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b="true" sz="39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Satz: "Hans isst </a:t>
            </a:r>
            <a:r>
              <a:rPr lang="en-US" b="true" sz="39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ein Käsebrot"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636628" y="2989137"/>
            <a:ext cx="6622672" cy="4308727"/>
          </a:xfrm>
          <a:custGeom>
            <a:avLst/>
            <a:gdLst/>
            <a:ahLst/>
            <a:cxnLst/>
            <a:rect r="r" b="b" t="t" l="l"/>
            <a:pathLst>
              <a:path h="4308727" w="6622672">
                <a:moveTo>
                  <a:pt x="0" y="0"/>
                </a:moveTo>
                <a:lnTo>
                  <a:pt x="6622672" y="0"/>
                </a:lnTo>
                <a:lnTo>
                  <a:pt x="6622672" y="4308726"/>
                </a:lnTo>
                <a:lnTo>
                  <a:pt x="0" y="43087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31910" y="5452342"/>
            <a:ext cx="410735" cy="41073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604525"/>
            <a:ext cx="6001302" cy="7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Dependenzbaum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748903"/>
            <a:ext cx="11631115" cy="1149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2"/>
              </a:lnSpc>
              <a:spcBef>
                <a:spcPct val="0"/>
              </a:spcBef>
            </a:pPr>
            <a:r>
              <a:rPr lang="en-US" sz="33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Hans hat dem Hund das Leckerli gegeben </a:t>
            </a:r>
            <a:r>
              <a:rPr lang="en-US" sz="33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19712" y="7922601"/>
            <a:ext cx="410735" cy="41073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94057" y="7922601"/>
            <a:ext cx="410735" cy="41073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76294" y="7214423"/>
            <a:ext cx="410735" cy="41073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55808" y="7922601"/>
            <a:ext cx="410735" cy="41073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931166" y="7214423"/>
            <a:ext cx="410735" cy="41073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538265" y="6257578"/>
            <a:ext cx="410735" cy="41073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525079" y="8440431"/>
            <a:ext cx="0" cy="375147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4485369" y="8440431"/>
            <a:ext cx="0" cy="375147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7775231" y="8440431"/>
            <a:ext cx="0" cy="375147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>
            <a:off x="9467606" y="7790540"/>
            <a:ext cx="14056" cy="1025038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6150587" y="7820817"/>
            <a:ext cx="14056" cy="1025038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>
            <a:off x="3005224" y="6111867"/>
            <a:ext cx="32053" cy="2758266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1727606" y="6774273"/>
            <a:ext cx="0" cy="2241734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3338675" y="5708945"/>
            <a:ext cx="8014405" cy="68318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H="true">
            <a:off x="1618721" y="5913335"/>
            <a:ext cx="1182699" cy="1877205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 flipH="true">
            <a:off x="9827121" y="6686556"/>
            <a:ext cx="1699252" cy="527867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 flipH="true">
            <a:off x="6433582" y="6510340"/>
            <a:ext cx="4956869" cy="70408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 flipH="true">
            <a:off x="8080781" y="7542556"/>
            <a:ext cx="1082721" cy="46264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 flipH="true">
            <a:off x="4776618" y="7555481"/>
            <a:ext cx="1082721" cy="46264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8798"/>
            <a:ext cx="9997440" cy="67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b="true" sz="39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Notat</a:t>
            </a:r>
            <a:r>
              <a:rPr lang="en-US" b="true" sz="39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ion für Nicht-projektive Strukturen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15579"/>
            <a:ext cx="17111416" cy="34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</a:pPr>
            <a:r>
              <a:rPr lang="en-US" sz="3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Notation           Bedeutung           </a:t>
            </a:r>
          </a:p>
          <a:p>
            <a:pPr algn="l">
              <a:lnSpc>
                <a:spcPts val="5575"/>
              </a:lnSpc>
              <a:spcBef>
                <a:spcPct val="0"/>
              </a:spcBef>
            </a:pPr>
            <a:r>
              <a:rPr lang="en-US" sz="3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⟨01,23⟩               Zw</a:t>
            </a:r>
            <a:r>
              <a:rPr lang="en-US" sz="3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ei Blöcke: [01] und [23] </a:t>
            </a:r>
          </a:p>
          <a:p>
            <a:pPr algn="l">
              <a:lnSpc>
                <a:spcPts val="5575"/>
              </a:lnSpc>
              <a:spcBef>
                <a:spcPct val="0"/>
              </a:spcBef>
            </a:pPr>
            <a:r>
              <a:rPr lang="en-US" sz="3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⟨1201⟩                Erstes Kind hat 2 Blöcke: [1. Block von Kind 1] + [Kind 2] </a:t>
            </a:r>
            <a:r>
              <a:rPr lang="en-US" sz="39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________________</a:t>
            </a:r>
            <a:r>
              <a:rPr lang="en-US" sz="3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 [0] + [2. Block von Kind 1] </a:t>
            </a:r>
          </a:p>
          <a:p>
            <a:pPr algn="l">
              <a:lnSpc>
                <a:spcPts val="5575"/>
              </a:lnSpc>
              <a:spcBef>
                <a:spcPct val="0"/>
              </a:spcBef>
            </a:pPr>
            <a:r>
              <a:rPr lang="en-US" sz="3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⟨1,20⟩                 Zwei Blöcke: [Kind 1] und [Kind 2 + sich selbst]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6765" y="952500"/>
            <a:ext cx="7304087" cy="67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b="true" sz="39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did John eat yesterday?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737286" y="7972651"/>
            <a:ext cx="410735" cy="41073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81100" y="8901303"/>
            <a:ext cx="9090410" cy="1149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2"/>
              </a:lnSpc>
              <a:spcBef>
                <a:spcPct val="0"/>
              </a:spcBef>
            </a:pPr>
            <a:r>
              <a:rPr lang="en-US" sz="33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did John eat yesterday? </a:t>
            </a:r>
            <a:r>
              <a:rPr lang="en-US" sz="33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26338" y="6252005"/>
            <a:ext cx="410735" cy="41073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5699" y="8044528"/>
            <a:ext cx="410735" cy="41073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906470" y="8075001"/>
            <a:ext cx="410735" cy="41073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206861" y="4936527"/>
            <a:ext cx="410735" cy="41073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>
            <a:off x="1677479" y="8592831"/>
            <a:ext cx="0" cy="375147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H="true">
            <a:off x="4942654" y="8592831"/>
            <a:ext cx="0" cy="374951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9125893" y="8592831"/>
            <a:ext cx="0" cy="375147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3412229" y="5627535"/>
            <a:ext cx="0" cy="3340247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6931706" y="6878233"/>
            <a:ext cx="0" cy="2129022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7217531" y="6629860"/>
            <a:ext cx="1688939" cy="132965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>
            <a:off x="3835015" y="5347262"/>
            <a:ext cx="2690466" cy="956845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 flipH="true">
            <a:off x="5153635" y="6878233"/>
            <a:ext cx="1371845" cy="108128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 flipH="true">
            <a:off x="2038260" y="6662740"/>
            <a:ext cx="4487220" cy="147731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6765" y="952500"/>
            <a:ext cx="7304087" cy="67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b="true" sz="39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did John eat yesterday?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00853" y="1565727"/>
            <a:ext cx="9156376" cy="1104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0"/>
              </a:lnSpc>
              <a:spcBef>
                <a:spcPct val="0"/>
              </a:spcBef>
            </a:pPr>
            <a:r>
              <a:rPr lang="en-US" sz="31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Linear ord</a:t>
            </a:r>
            <a:r>
              <a:rPr lang="en-US" sz="31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er: What did John eat yesterday</a:t>
            </a:r>
          </a:p>
          <a:p>
            <a:pPr algn="l">
              <a:lnSpc>
                <a:spcPts val="4420"/>
              </a:lnSpc>
              <a:spcBef>
                <a:spcPct val="0"/>
              </a:spcBef>
            </a:pPr>
            <a:r>
              <a:rPr lang="en-US" sz="31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But "eat" governs both "What" and "yesterday"!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00853" y="2740790"/>
            <a:ext cx="9156376" cy="6824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95"/>
              </a:lnSpc>
            </a:pPr>
          </a:p>
          <a:p>
            <a:pPr algn="just">
              <a:lnSpc>
                <a:spcPts val="4389"/>
              </a:lnSpc>
            </a:pPr>
            <a:r>
              <a:rPr lang="en-US" sz="31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What: ⟨0⟩</a:t>
            </a:r>
          </a:p>
          <a:p>
            <a:pPr algn="just">
              <a:lnSpc>
                <a:spcPts val="4389"/>
              </a:lnSpc>
            </a:pPr>
          </a:p>
          <a:p>
            <a:pPr algn="just">
              <a:lnSpc>
                <a:spcPts val="4389"/>
              </a:lnSpc>
            </a:pPr>
            <a:r>
              <a:rPr lang="en-US" sz="31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yesterday: ⟨0⟩</a:t>
            </a:r>
          </a:p>
          <a:p>
            <a:pPr algn="just">
              <a:lnSpc>
                <a:spcPts val="4389"/>
              </a:lnSpc>
            </a:pPr>
          </a:p>
          <a:p>
            <a:pPr algn="just">
              <a:lnSpc>
                <a:spcPts val="4389"/>
              </a:lnSpc>
            </a:pPr>
            <a:r>
              <a:rPr lang="en-US" sz="31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John: ⟨0⟩</a:t>
            </a:r>
          </a:p>
          <a:p>
            <a:pPr algn="just">
              <a:lnSpc>
                <a:spcPts val="4389"/>
              </a:lnSpc>
            </a:pPr>
          </a:p>
          <a:p>
            <a:pPr algn="just">
              <a:lnSpc>
                <a:spcPts val="4389"/>
              </a:lnSpc>
              <a:spcBef>
                <a:spcPct val="0"/>
              </a:spcBef>
            </a:pPr>
            <a:r>
              <a:rPr lang="en-US" sz="31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eat: ⟨1,203⟩ (block1: child1="What", block2: child2="John" + self="eat" + child3="yesterday")</a:t>
            </a:r>
          </a:p>
          <a:p>
            <a:pPr algn="just">
              <a:lnSpc>
                <a:spcPts val="4389"/>
              </a:lnSpc>
              <a:spcBef>
                <a:spcPct val="0"/>
              </a:spcBef>
            </a:pPr>
          </a:p>
          <a:p>
            <a:pPr algn="just">
              <a:lnSpc>
                <a:spcPts val="4389"/>
              </a:lnSpc>
              <a:spcBef>
                <a:spcPct val="0"/>
              </a:spcBef>
            </a:pPr>
            <a:r>
              <a:rPr lang="en-US" sz="31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did: ⟨101⟩ (child1 block1="What" + self="did" +  child1 block2="John eat yesterday")</a:t>
            </a:r>
          </a:p>
          <a:p>
            <a:pPr algn="just">
              <a:lnSpc>
                <a:spcPts val="2895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3320427" y="4879550"/>
            <a:ext cx="330559" cy="33055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58410" y="5623439"/>
            <a:ext cx="7315955" cy="928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20"/>
              </a:lnSpc>
              <a:spcBef>
                <a:spcPct val="0"/>
              </a:spcBef>
            </a:pPr>
            <a:r>
              <a:rPr lang="en-US" sz="26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did John eat yesterday? </a:t>
            </a:r>
            <a:r>
              <a:rPr lang="en-US" sz="26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921214" y="3494775"/>
            <a:ext cx="330559" cy="33055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9887" y="4937397"/>
            <a:ext cx="330559" cy="3305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675783" y="4961921"/>
            <a:ext cx="330559" cy="3305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88742" y="2436079"/>
            <a:ext cx="330559" cy="33055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H="true">
            <a:off x="857896" y="5378670"/>
            <a:ext cx="0" cy="301918"/>
          </a:xfrm>
          <a:prstGeom prst="line">
            <a:avLst/>
          </a:prstGeom>
          <a:ln cap="flat" w="1905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3485706" y="5378670"/>
            <a:ext cx="0" cy="301760"/>
          </a:xfrm>
          <a:prstGeom prst="line">
            <a:avLst/>
          </a:prstGeom>
          <a:ln cap="flat" w="1905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6852374" y="5378670"/>
            <a:ext cx="0" cy="301918"/>
          </a:xfrm>
          <a:prstGeom prst="line">
            <a:avLst/>
          </a:prstGeom>
          <a:ln cap="flat" w="1905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2254021" y="2992202"/>
            <a:ext cx="0" cy="2688228"/>
          </a:xfrm>
          <a:prstGeom prst="line">
            <a:avLst/>
          </a:prstGeom>
          <a:ln cap="flat" w="1905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5086494" y="3998763"/>
            <a:ext cx="0" cy="1713435"/>
          </a:xfrm>
          <a:prstGeom prst="line">
            <a:avLst/>
          </a:prstGeom>
          <a:ln cap="flat" w="1905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5316526" y="3798873"/>
            <a:ext cx="1359257" cy="1070103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2594279" y="2766639"/>
            <a:ext cx="2165285" cy="770068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 flipH="true">
            <a:off x="3655504" y="3998763"/>
            <a:ext cx="1104060" cy="870213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9" id="29"/>
          <p:cNvSpPr/>
          <p:nvPr/>
        </p:nvSpPr>
        <p:spPr>
          <a:xfrm flipH="true">
            <a:off x="1148252" y="3825335"/>
            <a:ext cx="3611312" cy="1188938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84886" y="4885996"/>
            <a:ext cx="410735" cy="41073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604525"/>
            <a:ext cx="6001302" cy="76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5"/>
              </a:lnSpc>
              <a:spcBef>
                <a:spcPct val="0"/>
              </a:spcBef>
            </a:pPr>
            <a:r>
              <a:rPr lang="en-US" sz="44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Dependenzbaum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748903"/>
            <a:ext cx="11631115" cy="1149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2"/>
              </a:lnSpc>
              <a:spcBef>
                <a:spcPct val="0"/>
              </a:spcBef>
            </a:pPr>
            <a:r>
              <a:rPr lang="en-US" sz="33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Dem Hund hat Hans das Leckerli gegeben </a:t>
            </a:r>
            <a:r>
              <a:rPr lang="en-US" sz="33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118411" y="6099605"/>
            <a:ext cx="410735" cy="41073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03299" y="7892128"/>
            <a:ext cx="410735" cy="41073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76294" y="7214423"/>
            <a:ext cx="410735" cy="41073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55808" y="7922601"/>
            <a:ext cx="410735" cy="41073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040407" y="7183950"/>
            <a:ext cx="410735" cy="41073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538265" y="6257578"/>
            <a:ext cx="410735" cy="41073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525079" y="8440431"/>
            <a:ext cx="0" cy="375147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4790254" y="5608818"/>
            <a:ext cx="0" cy="3206564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7775231" y="8440431"/>
            <a:ext cx="0" cy="375147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>
            <a:off x="9467606" y="7790540"/>
            <a:ext cx="14056" cy="1025038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3259829" y="7790344"/>
            <a:ext cx="14056" cy="1025038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6323779" y="6686556"/>
            <a:ext cx="0" cy="2129022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1727606" y="6774273"/>
            <a:ext cx="0" cy="2241734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5282495" y="5143500"/>
            <a:ext cx="6107956" cy="1114078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>
            <a:off x="5003781" y="5308459"/>
            <a:ext cx="962786" cy="791145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 flipH="true">
            <a:off x="9827121" y="6686556"/>
            <a:ext cx="1699252" cy="527867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 flipH="true">
            <a:off x="3700912" y="6510340"/>
            <a:ext cx="7689539" cy="70408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 flipH="true">
            <a:off x="8080781" y="7542556"/>
            <a:ext cx="1082721" cy="46264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 flipH="true">
            <a:off x="1885860" y="7525008"/>
            <a:ext cx="1082721" cy="46264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1764" y="8525131"/>
            <a:ext cx="17624471" cy="119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8"/>
              </a:lnSpc>
              <a:spcBef>
                <a:spcPct val="0"/>
              </a:spcBef>
            </a:pPr>
            <a:r>
              <a:rPr lang="en-US" sz="34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Hans hat das interessante Buch gelesen, das einen grünen Einband hat </a:t>
            </a:r>
            <a:r>
              <a:rPr lang="en-US" sz="34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.....................................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50649"/>
            <a:ext cx="3001169" cy="67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sz="3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 -&gt; RDG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75585"/>
            <a:ext cx="1611471" cy="159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a: A/A, A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b: B\B, B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S: S\B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00411"/>
            <a:ext cx="2614136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für a*b*s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50649"/>
            <a:ext cx="3001169" cy="67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sz="3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 -&gt; RDG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75585"/>
            <a:ext cx="2027714" cy="159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a: A/A, A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b: B\B, B\A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S: S\B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00411"/>
            <a:ext cx="2614136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für a*b*s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97095"/>
            <a:ext cx="4558653" cy="153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a      b     a    s </a:t>
            </a:r>
          </a:p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A/A   B\A   A   S\B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6622755"/>
            <a:ext cx="24158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463401" y="6733635"/>
            <a:ext cx="971926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B/A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8700" y="7775372"/>
            <a:ext cx="3262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2444869" y="7800689"/>
            <a:ext cx="390604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028700" y="8670976"/>
            <a:ext cx="45586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3249217" y="8720947"/>
            <a:ext cx="347739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50649"/>
            <a:ext cx="3001169" cy="67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sz="3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 -&gt; RDG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59269"/>
            <a:ext cx="1611471" cy="159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a: A/A, A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b: B\B, B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S: S\B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00411"/>
            <a:ext cx="2614136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für a*b*s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97095"/>
            <a:ext cx="4558653" cy="153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a      b     a    s </a:t>
            </a:r>
          </a:p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A/A   B\A   A   S\B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6622755"/>
            <a:ext cx="24158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463401" y="6733635"/>
            <a:ext cx="971926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B/A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8700" y="7775372"/>
            <a:ext cx="3262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2444869" y="7800689"/>
            <a:ext cx="390604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028700" y="8670976"/>
            <a:ext cx="45586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3249217" y="8720947"/>
            <a:ext cx="347739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2000411"/>
            <a:ext cx="9144000" cy="105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RDG (intuitiv aber spoiler: ist nicht äquivalent zur CCG)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3298436"/>
            <a:ext cx="1037603" cy="230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5"/>
              </a:lnSpc>
            </a:pPr>
            <a:r>
              <a:rPr lang="en-US" sz="4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</a:t>
            </a:r>
          </a:p>
          <a:p>
            <a:pPr algn="l">
              <a:lnSpc>
                <a:spcPts val="6215"/>
              </a:lnSpc>
            </a:pPr>
            <a:r>
              <a:rPr lang="en-US" sz="4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 → </a:t>
            </a:r>
          </a:p>
          <a:p>
            <a:pPr algn="l">
              <a:lnSpc>
                <a:spcPts val="6215"/>
              </a:lnSpc>
              <a:spcBef>
                <a:spcPct val="0"/>
              </a:spcBef>
            </a:pPr>
            <a:r>
              <a:rPr lang="en-US" sz="4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→ 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50649"/>
            <a:ext cx="3001169" cy="67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sz="3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 -&gt; RDG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59269"/>
            <a:ext cx="1611471" cy="159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a: A/A, A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b: B\B, B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S: S\B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00411"/>
            <a:ext cx="2614136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für a*b*s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97095"/>
            <a:ext cx="4558653" cy="153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a      b     a    s </a:t>
            </a:r>
          </a:p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A/A   B\A   A   S\B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6622755"/>
            <a:ext cx="24158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463401" y="6733635"/>
            <a:ext cx="971926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B/A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8700" y="7775372"/>
            <a:ext cx="3262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2444869" y="7800689"/>
            <a:ext cx="390604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028700" y="8670976"/>
            <a:ext cx="45586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3249217" y="8720947"/>
            <a:ext cx="347739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2000411"/>
            <a:ext cx="9144000" cy="105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RDG (intuitiv aber spoiler: ist nicht äquivalent zur CCG)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3298436"/>
            <a:ext cx="3601373" cy="230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5"/>
              </a:lnSpc>
            </a:pPr>
            <a:r>
              <a:rPr lang="en-US" sz="4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&lt;s: 10&gt;(B)</a:t>
            </a:r>
          </a:p>
          <a:p>
            <a:pPr algn="l">
              <a:lnSpc>
                <a:spcPts val="6215"/>
              </a:lnSpc>
            </a:pPr>
            <a:r>
              <a:rPr lang="en-US" sz="4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 → </a:t>
            </a:r>
          </a:p>
          <a:p>
            <a:pPr algn="l">
              <a:lnSpc>
                <a:spcPts val="6215"/>
              </a:lnSpc>
              <a:spcBef>
                <a:spcPct val="0"/>
              </a:spcBef>
            </a:pPr>
            <a:r>
              <a:rPr lang="en-US" sz="4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→ 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50649"/>
            <a:ext cx="3001169" cy="67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sz="3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 -&gt; RDG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59269"/>
            <a:ext cx="1611471" cy="159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a: A/A, A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b: B\B, B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S: S\B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00411"/>
            <a:ext cx="2614136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für a*b*s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97095"/>
            <a:ext cx="4558653" cy="153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a      b     a    s </a:t>
            </a:r>
          </a:p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A/A   B\A   A   S\B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6622755"/>
            <a:ext cx="24158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463401" y="6733635"/>
            <a:ext cx="971926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B/A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8700" y="7775372"/>
            <a:ext cx="3262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2444869" y="7800689"/>
            <a:ext cx="390604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028700" y="8670976"/>
            <a:ext cx="45586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3249217" y="8720947"/>
            <a:ext cx="347739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2000411"/>
            <a:ext cx="9144000" cy="105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RDG (intuitiv aber spoiler: ist nicht äquivalent zur CCG)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3298436"/>
            <a:ext cx="3601373" cy="230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5"/>
              </a:lnSpc>
            </a:pPr>
            <a:r>
              <a:rPr lang="en-US" sz="4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&lt;s: 10&gt;(B)</a:t>
            </a:r>
          </a:p>
          <a:p>
            <a:pPr algn="l">
              <a:lnSpc>
                <a:spcPts val="6215"/>
              </a:lnSpc>
            </a:pPr>
            <a:r>
              <a:rPr lang="en-US" sz="4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 → &lt;b:10&gt;(B)</a:t>
            </a:r>
          </a:p>
          <a:p>
            <a:pPr algn="l">
              <a:lnSpc>
                <a:spcPts val="6215"/>
              </a:lnSpc>
              <a:spcBef>
                <a:spcPct val="0"/>
              </a:spcBef>
            </a:pPr>
            <a:r>
              <a:rPr lang="en-US" sz="4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→ 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50649"/>
            <a:ext cx="3001169" cy="67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sz="3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 -&gt; RDG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59269"/>
            <a:ext cx="1611471" cy="159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a: A/A, A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b: B\B, B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S: S\B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00411"/>
            <a:ext cx="2614136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für a*b*s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97095"/>
            <a:ext cx="4558653" cy="153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a      b     a    s </a:t>
            </a:r>
          </a:p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A/A   B\A   A   S\B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6622755"/>
            <a:ext cx="24158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463401" y="6733635"/>
            <a:ext cx="971926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B/A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8700" y="7775372"/>
            <a:ext cx="3262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2444869" y="7800689"/>
            <a:ext cx="390604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028700" y="8670976"/>
            <a:ext cx="45586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3249217" y="8720947"/>
            <a:ext cx="347739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2000411"/>
            <a:ext cx="9144000" cy="105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RDG (intuitiv aber spoiler: ist nicht äquivalent zur CCG)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3298436"/>
            <a:ext cx="3659119" cy="230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5"/>
              </a:lnSpc>
            </a:pPr>
            <a:r>
              <a:rPr lang="en-US" sz="4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&lt;s: 10&gt;(B)</a:t>
            </a:r>
          </a:p>
          <a:p>
            <a:pPr algn="l">
              <a:lnSpc>
                <a:spcPts val="6215"/>
              </a:lnSpc>
            </a:pPr>
            <a:r>
              <a:rPr lang="en-US" sz="4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 → &lt;b:10&gt;(B)</a:t>
            </a:r>
          </a:p>
          <a:p>
            <a:pPr algn="l">
              <a:lnSpc>
                <a:spcPts val="6215"/>
              </a:lnSpc>
              <a:spcBef>
                <a:spcPct val="0"/>
              </a:spcBef>
            </a:pPr>
            <a:r>
              <a:rPr lang="en-US" sz="4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→ &lt;a: 01&gt;(A)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50649"/>
            <a:ext cx="3001169" cy="67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sz="3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 -&gt; RDG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59269"/>
            <a:ext cx="1620361" cy="159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a: A/A, A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b: B\A, B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S: S\B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00411"/>
            <a:ext cx="2614136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CCG für a*b*s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97095"/>
            <a:ext cx="4558653" cy="153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a      b     a    s </a:t>
            </a:r>
          </a:p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A/A   B\A   A   S\B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6622755"/>
            <a:ext cx="24158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463401" y="6733635"/>
            <a:ext cx="971926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B/A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8700" y="7775372"/>
            <a:ext cx="3262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2444869" y="7800689"/>
            <a:ext cx="390604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028700" y="8670976"/>
            <a:ext cx="45586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3249217" y="8720947"/>
            <a:ext cx="347739" cy="75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2000411"/>
            <a:ext cx="9144000" cy="105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RDG (intuitiv aber spoiler: ist nicht äquivalent zur CCG)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3298436"/>
            <a:ext cx="3659119" cy="308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5"/>
              </a:lnSpc>
            </a:pPr>
            <a:r>
              <a:rPr lang="en-US" sz="4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&lt;s: 10&gt;(B)</a:t>
            </a:r>
          </a:p>
          <a:p>
            <a:pPr algn="l">
              <a:lnSpc>
                <a:spcPts val="6215"/>
              </a:lnSpc>
            </a:pPr>
            <a:r>
              <a:rPr lang="en-US" sz="4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 → &lt;b:10&gt;(B)</a:t>
            </a:r>
          </a:p>
          <a:p>
            <a:pPr algn="l">
              <a:lnSpc>
                <a:spcPts val="6215"/>
              </a:lnSpc>
              <a:spcBef>
                <a:spcPct val="0"/>
              </a:spcBef>
            </a:pPr>
            <a:r>
              <a:rPr lang="en-US" sz="4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→ &lt;a: 01&gt;(A)</a:t>
            </a:r>
          </a:p>
          <a:p>
            <a:pPr algn="l">
              <a:lnSpc>
                <a:spcPts val="6215"/>
              </a:lnSpc>
              <a:spcBef>
                <a:spcPct val="0"/>
              </a:spcBef>
            </a:pPr>
            <a:r>
              <a:rPr lang="en-US" sz="44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→ &lt;a:0&gt;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69173"/>
            <a:ext cx="6763580" cy="67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  <a:spcBef>
                <a:spcPct val="0"/>
              </a:spcBef>
            </a:pPr>
            <a:r>
              <a:rPr lang="en-US" sz="3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Warum nicht äquivalent?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2546" y="8022490"/>
            <a:ext cx="9534357" cy="122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34"/>
              </a:lnSpc>
              <a:spcBef>
                <a:spcPct val="0"/>
              </a:spcBef>
            </a:pPr>
            <a:r>
              <a:rPr lang="en-US" sz="35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b a b s a </a:t>
            </a:r>
            <a:r>
              <a:rPr lang="en-US" sz="35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................................................................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2546" y="1674605"/>
            <a:ext cx="6763580" cy="110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  <a:spcBef>
                <a:spcPct val="0"/>
              </a:spcBef>
            </a:pPr>
            <a:r>
              <a:rPr lang="en-US" sz="31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b a b s a in G1(CCG), aber auch in G2(RDG)?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66625" y="797748"/>
            <a:ext cx="2555081" cy="2683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G2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→ &lt;s: 10&gt;(B)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 → &lt;b:10&gt;(B)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→ &lt;a: 01&gt;(A)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→ &lt;a:0&gt;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68346" y="797748"/>
            <a:ext cx="1620361" cy="214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G1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a: A/A, A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b: B\A, B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S: S\B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DAHLKo0Kgxk</dc:identifier>
  <dcterms:modified xsi:type="dcterms:W3CDTF">2011-08-01T06:04:30Z</dcterms:modified>
  <cp:revision>1</cp:revision>
  <dc:title>Kopie von RDG.</dc:title>
</cp:coreProperties>
</file>