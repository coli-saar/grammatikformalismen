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8288000" cy="10287000"/>
  <p:notesSz cx="6858000" cy="9144000"/>
  <p:embeddedFontLst>
    <p:embeddedFont>
      <p:font typeface="Open Sauce" charset="1" panose="00000500000000000000"/>
      <p:regular r:id="rId52"/>
    </p:embeddedFont>
    <p:embeddedFont>
      <p:font typeface="Open Sauce Bold" charset="1" panose="000008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Alto installiert?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3590251"/>
            <a:ext cx="1303612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Kurze Kontrolle: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Java installiert?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Alto-JAR heruntergeladen?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english.tag aus der Dokumentation gefunden?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Run Alto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41020"/>
            <a:ext cx="14804719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java -cp alto-&lt;version&gt;-all.jar de.up.ling.irtg.script.TulipacParser english.tag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Hinweis: Alto ist case-sensitive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John =/= john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29740" y="366043"/>
          <a:ext cx="13113511" cy="9616157"/>
        </p:xfrm>
        <a:graphic>
          <a:graphicData uri="http://schemas.openxmlformats.org/drawingml/2006/table">
            <a:tbl>
              <a:tblPr/>
              <a:tblGrid>
                <a:gridCol w="4094256"/>
                <a:gridCol w="2432768"/>
                <a:gridCol w="6586487"/>
              </a:tblGrid>
              <a:tr h="1699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Elementarbaum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5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Auxiliarbaum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7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19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Ajunktion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537522" y="4967774"/>
            <a:ext cx="512049" cy="670960"/>
          </a:xfrm>
          <a:custGeom>
            <a:avLst/>
            <a:gdLst/>
            <a:ahLst/>
            <a:cxnLst/>
            <a:rect r="r" b="b" t="t" l="l"/>
            <a:pathLst>
              <a:path h="670960" w="512049">
                <a:moveTo>
                  <a:pt x="0" y="0"/>
                </a:moveTo>
                <a:lnTo>
                  <a:pt x="512049" y="0"/>
                </a:lnTo>
                <a:lnTo>
                  <a:pt x="512049" y="670961"/>
                </a:lnTo>
                <a:lnTo>
                  <a:pt x="0" y="670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4744" y="1282538"/>
            <a:ext cx="1117691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29740" y="366043"/>
          <a:ext cx="13113511" cy="9616157"/>
        </p:xfrm>
        <a:graphic>
          <a:graphicData uri="http://schemas.openxmlformats.org/drawingml/2006/table">
            <a:tbl>
              <a:tblPr/>
              <a:tblGrid>
                <a:gridCol w="4094256"/>
                <a:gridCol w="2432768"/>
                <a:gridCol w="6586487"/>
              </a:tblGrid>
              <a:tr h="1699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Elementarbaum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Grundbaustein der Grammatik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5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wie TSG, enthält Substitutionsknoten (↓)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Auxiliarbaum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7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19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Ajunktion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386495" y="448326"/>
            <a:ext cx="4021777" cy="3259756"/>
          </a:xfrm>
          <a:custGeom>
            <a:avLst/>
            <a:gdLst/>
            <a:ahLst/>
            <a:cxnLst/>
            <a:rect r="r" b="b" t="t" l="l"/>
            <a:pathLst>
              <a:path h="3259756" w="4021777">
                <a:moveTo>
                  <a:pt x="0" y="0"/>
                </a:moveTo>
                <a:lnTo>
                  <a:pt x="4021777" y="0"/>
                </a:lnTo>
                <a:lnTo>
                  <a:pt x="4021777" y="3259756"/>
                </a:lnTo>
                <a:lnTo>
                  <a:pt x="0" y="3259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37522" y="4967774"/>
            <a:ext cx="512049" cy="670960"/>
          </a:xfrm>
          <a:custGeom>
            <a:avLst/>
            <a:gdLst/>
            <a:ahLst/>
            <a:cxnLst/>
            <a:rect r="r" b="b" t="t" l="l"/>
            <a:pathLst>
              <a:path h="670960" w="512049">
                <a:moveTo>
                  <a:pt x="0" y="0"/>
                </a:moveTo>
                <a:lnTo>
                  <a:pt x="512049" y="0"/>
                </a:lnTo>
                <a:lnTo>
                  <a:pt x="512049" y="670961"/>
                </a:lnTo>
                <a:lnTo>
                  <a:pt x="0" y="670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08272" y="479503"/>
            <a:ext cx="2434236" cy="3197401"/>
          </a:xfrm>
          <a:custGeom>
            <a:avLst/>
            <a:gdLst/>
            <a:ahLst/>
            <a:cxnLst/>
            <a:rect r="r" b="b" t="t" l="l"/>
            <a:pathLst>
              <a:path h="3197401" w="2434236">
                <a:moveTo>
                  <a:pt x="0" y="0"/>
                </a:moveTo>
                <a:lnTo>
                  <a:pt x="2434236" y="0"/>
                </a:lnTo>
                <a:lnTo>
                  <a:pt x="2434236" y="3197401"/>
                </a:lnTo>
                <a:lnTo>
                  <a:pt x="0" y="319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38" t="-1943" r="0" b="-194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4744" y="1282538"/>
            <a:ext cx="1117691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29740" y="366043"/>
          <a:ext cx="13113511" cy="9616157"/>
        </p:xfrm>
        <a:graphic>
          <a:graphicData uri="http://schemas.openxmlformats.org/drawingml/2006/table">
            <a:tbl>
              <a:tblPr/>
              <a:tblGrid>
                <a:gridCol w="4094256"/>
                <a:gridCol w="2432768"/>
                <a:gridCol w="6586487"/>
              </a:tblGrid>
              <a:tr h="1699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Elementarbaum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Grundbaustein der Grammatik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5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wie TSG, enthält Substitutionsknoten (↓)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Auxiliarbaum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enthält genau einen Fußknoten (*)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wird adjungiert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7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19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Ajunktion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386495" y="448326"/>
            <a:ext cx="4021777" cy="3259756"/>
          </a:xfrm>
          <a:custGeom>
            <a:avLst/>
            <a:gdLst/>
            <a:ahLst/>
            <a:cxnLst/>
            <a:rect r="r" b="b" t="t" l="l"/>
            <a:pathLst>
              <a:path h="3259756" w="4021777">
                <a:moveTo>
                  <a:pt x="0" y="0"/>
                </a:moveTo>
                <a:lnTo>
                  <a:pt x="4021777" y="0"/>
                </a:lnTo>
                <a:lnTo>
                  <a:pt x="4021777" y="3259756"/>
                </a:lnTo>
                <a:lnTo>
                  <a:pt x="0" y="3259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09756" y="3881271"/>
            <a:ext cx="2389627" cy="1757464"/>
          </a:xfrm>
          <a:custGeom>
            <a:avLst/>
            <a:gdLst/>
            <a:ahLst/>
            <a:cxnLst/>
            <a:rect r="r" b="b" t="t" l="l"/>
            <a:pathLst>
              <a:path h="1757464" w="2389627">
                <a:moveTo>
                  <a:pt x="0" y="0"/>
                </a:moveTo>
                <a:lnTo>
                  <a:pt x="2389627" y="0"/>
                </a:lnTo>
                <a:lnTo>
                  <a:pt x="2389627" y="1757464"/>
                </a:lnTo>
                <a:lnTo>
                  <a:pt x="0" y="175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8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37522" y="4967774"/>
            <a:ext cx="512049" cy="670960"/>
          </a:xfrm>
          <a:custGeom>
            <a:avLst/>
            <a:gdLst/>
            <a:ahLst/>
            <a:cxnLst/>
            <a:rect r="r" b="b" t="t" l="l"/>
            <a:pathLst>
              <a:path h="670960" w="512049">
                <a:moveTo>
                  <a:pt x="0" y="0"/>
                </a:moveTo>
                <a:lnTo>
                  <a:pt x="512049" y="0"/>
                </a:lnTo>
                <a:lnTo>
                  <a:pt x="512049" y="670961"/>
                </a:lnTo>
                <a:lnTo>
                  <a:pt x="0" y="670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08272" y="479503"/>
            <a:ext cx="2434236" cy="3197401"/>
          </a:xfrm>
          <a:custGeom>
            <a:avLst/>
            <a:gdLst/>
            <a:ahLst/>
            <a:cxnLst/>
            <a:rect r="r" b="b" t="t" l="l"/>
            <a:pathLst>
              <a:path h="3197401" w="2434236">
                <a:moveTo>
                  <a:pt x="0" y="0"/>
                </a:moveTo>
                <a:lnTo>
                  <a:pt x="2434236" y="0"/>
                </a:lnTo>
                <a:lnTo>
                  <a:pt x="2434236" y="3197401"/>
                </a:lnTo>
                <a:lnTo>
                  <a:pt x="0" y="319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38" t="-1943" r="0" b="-194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4744" y="1282538"/>
            <a:ext cx="1117691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29740" y="366043"/>
          <a:ext cx="13113511" cy="9616157"/>
        </p:xfrm>
        <a:graphic>
          <a:graphicData uri="http://schemas.openxmlformats.org/drawingml/2006/table">
            <a:tbl>
              <a:tblPr/>
              <a:tblGrid>
                <a:gridCol w="4094256"/>
                <a:gridCol w="2432768"/>
                <a:gridCol w="6586487"/>
              </a:tblGrid>
              <a:tr h="1699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Elementarbaum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Grundbaustein der Grammatik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5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wie TSG, enthält Substitutionsknoten (↓)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Auxiliarbaum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enthält genau einen Fußknoten (*)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wird adjungiert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7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Einsetzen eines Baums an einem ↓-Knoten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19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Ajunktion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509854" y="5918465"/>
            <a:ext cx="4490812" cy="1916973"/>
          </a:xfrm>
          <a:custGeom>
            <a:avLst/>
            <a:gdLst/>
            <a:ahLst/>
            <a:cxnLst/>
            <a:rect r="r" b="b" t="t" l="l"/>
            <a:pathLst>
              <a:path h="1916973" w="4490812">
                <a:moveTo>
                  <a:pt x="0" y="0"/>
                </a:moveTo>
                <a:lnTo>
                  <a:pt x="4490812" y="0"/>
                </a:lnTo>
                <a:lnTo>
                  <a:pt x="4490812" y="1916974"/>
                </a:lnTo>
                <a:lnTo>
                  <a:pt x="0" y="191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86495" y="448326"/>
            <a:ext cx="4021777" cy="3259756"/>
          </a:xfrm>
          <a:custGeom>
            <a:avLst/>
            <a:gdLst/>
            <a:ahLst/>
            <a:cxnLst/>
            <a:rect r="r" b="b" t="t" l="l"/>
            <a:pathLst>
              <a:path h="3259756" w="4021777">
                <a:moveTo>
                  <a:pt x="0" y="0"/>
                </a:moveTo>
                <a:lnTo>
                  <a:pt x="4021777" y="0"/>
                </a:lnTo>
                <a:lnTo>
                  <a:pt x="4021777" y="3259756"/>
                </a:lnTo>
                <a:lnTo>
                  <a:pt x="0" y="325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09756" y="3881271"/>
            <a:ext cx="2389627" cy="1757464"/>
          </a:xfrm>
          <a:custGeom>
            <a:avLst/>
            <a:gdLst/>
            <a:ahLst/>
            <a:cxnLst/>
            <a:rect r="r" b="b" t="t" l="l"/>
            <a:pathLst>
              <a:path h="1757464" w="2389627">
                <a:moveTo>
                  <a:pt x="0" y="0"/>
                </a:moveTo>
                <a:lnTo>
                  <a:pt x="2389627" y="0"/>
                </a:lnTo>
                <a:lnTo>
                  <a:pt x="2389627" y="1757464"/>
                </a:lnTo>
                <a:lnTo>
                  <a:pt x="0" y="1757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8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37522" y="4967774"/>
            <a:ext cx="512049" cy="670960"/>
          </a:xfrm>
          <a:custGeom>
            <a:avLst/>
            <a:gdLst/>
            <a:ahLst/>
            <a:cxnLst/>
            <a:rect r="r" b="b" t="t" l="l"/>
            <a:pathLst>
              <a:path h="670960" w="512049">
                <a:moveTo>
                  <a:pt x="0" y="0"/>
                </a:moveTo>
                <a:lnTo>
                  <a:pt x="512049" y="0"/>
                </a:lnTo>
                <a:lnTo>
                  <a:pt x="512049" y="670961"/>
                </a:lnTo>
                <a:lnTo>
                  <a:pt x="0" y="670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08272" y="479503"/>
            <a:ext cx="2434236" cy="3197401"/>
          </a:xfrm>
          <a:custGeom>
            <a:avLst/>
            <a:gdLst/>
            <a:ahLst/>
            <a:cxnLst/>
            <a:rect r="r" b="b" t="t" l="l"/>
            <a:pathLst>
              <a:path h="3197401" w="2434236">
                <a:moveTo>
                  <a:pt x="0" y="0"/>
                </a:moveTo>
                <a:lnTo>
                  <a:pt x="2434236" y="0"/>
                </a:lnTo>
                <a:lnTo>
                  <a:pt x="2434236" y="3197401"/>
                </a:lnTo>
                <a:lnTo>
                  <a:pt x="0" y="319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38" t="-1943" r="0" b="-194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4744" y="1282538"/>
            <a:ext cx="1117691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29740" y="366043"/>
          <a:ext cx="13113511" cy="9616157"/>
        </p:xfrm>
        <a:graphic>
          <a:graphicData uri="http://schemas.openxmlformats.org/drawingml/2006/table">
            <a:tbl>
              <a:tblPr/>
              <a:tblGrid>
                <a:gridCol w="4094256"/>
                <a:gridCol w="2432768"/>
                <a:gridCol w="6586487"/>
              </a:tblGrid>
              <a:tr h="1699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Elementarbaum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Grundbaustein der Grammatik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5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wie TSG, enthält Substitutionsknoten (↓)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6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Auxiliarbaum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enthält genau einen Fußknoten (*)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wird adjungiert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7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Einsetzen eines Baums an einem ↓-Knoten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19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Ajunktion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Einschneiden eines Aux-Baums an einem inneren 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509854" y="5918465"/>
            <a:ext cx="4490812" cy="1916973"/>
          </a:xfrm>
          <a:custGeom>
            <a:avLst/>
            <a:gdLst/>
            <a:ahLst/>
            <a:cxnLst/>
            <a:rect r="r" b="b" t="t" l="l"/>
            <a:pathLst>
              <a:path h="1916973" w="4490812">
                <a:moveTo>
                  <a:pt x="0" y="0"/>
                </a:moveTo>
                <a:lnTo>
                  <a:pt x="4490812" y="0"/>
                </a:lnTo>
                <a:lnTo>
                  <a:pt x="4490812" y="1916974"/>
                </a:lnTo>
                <a:lnTo>
                  <a:pt x="0" y="191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86495" y="448326"/>
            <a:ext cx="4021777" cy="3259756"/>
          </a:xfrm>
          <a:custGeom>
            <a:avLst/>
            <a:gdLst/>
            <a:ahLst/>
            <a:cxnLst/>
            <a:rect r="r" b="b" t="t" l="l"/>
            <a:pathLst>
              <a:path h="3259756" w="4021777">
                <a:moveTo>
                  <a:pt x="0" y="0"/>
                </a:moveTo>
                <a:lnTo>
                  <a:pt x="4021777" y="0"/>
                </a:lnTo>
                <a:lnTo>
                  <a:pt x="4021777" y="3259756"/>
                </a:lnTo>
                <a:lnTo>
                  <a:pt x="0" y="325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09756" y="3881271"/>
            <a:ext cx="2389627" cy="1757464"/>
          </a:xfrm>
          <a:custGeom>
            <a:avLst/>
            <a:gdLst/>
            <a:ahLst/>
            <a:cxnLst/>
            <a:rect r="r" b="b" t="t" l="l"/>
            <a:pathLst>
              <a:path h="1757464" w="2389627">
                <a:moveTo>
                  <a:pt x="0" y="0"/>
                </a:moveTo>
                <a:lnTo>
                  <a:pt x="2389627" y="0"/>
                </a:lnTo>
                <a:lnTo>
                  <a:pt x="2389627" y="1757464"/>
                </a:lnTo>
                <a:lnTo>
                  <a:pt x="0" y="1757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8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09854" y="8035198"/>
            <a:ext cx="3244973" cy="1877085"/>
          </a:xfrm>
          <a:custGeom>
            <a:avLst/>
            <a:gdLst/>
            <a:ahLst/>
            <a:cxnLst/>
            <a:rect r="r" b="b" t="t" l="l"/>
            <a:pathLst>
              <a:path h="1877085" w="3244973">
                <a:moveTo>
                  <a:pt x="0" y="0"/>
                </a:moveTo>
                <a:lnTo>
                  <a:pt x="3244973" y="0"/>
                </a:lnTo>
                <a:lnTo>
                  <a:pt x="3244973" y="1877085"/>
                </a:lnTo>
                <a:lnTo>
                  <a:pt x="0" y="18770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88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37522" y="4967774"/>
            <a:ext cx="512049" cy="670960"/>
          </a:xfrm>
          <a:custGeom>
            <a:avLst/>
            <a:gdLst/>
            <a:ahLst/>
            <a:cxnLst/>
            <a:rect r="r" b="b" t="t" l="l"/>
            <a:pathLst>
              <a:path h="670960" w="512049">
                <a:moveTo>
                  <a:pt x="0" y="0"/>
                </a:moveTo>
                <a:lnTo>
                  <a:pt x="512049" y="0"/>
                </a:lnTo>
                <a:lnTo>
                  <a:pt x="512049" y="670961"/>
                </a:lnTo>
                <a:lnTo>
                  <a:pt x="0" y="670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8272" y="479503"/>
            <a:ext cx="2434236" cy="3197401"/>
          </a:xfrm>
          <a:custGeom>
            <a:avLst/>
            <a:gdLst/>
            <a:ahLst/>
            <a:cxnLst/>
            <a:rect r="r" b="b" t="t" l="l"/>
            <a:pathLst>
              <a:path h="3197401" w="2434236">
                <a:moveTo>
                  <a:pt x="0" y="0"/>
                </a:moveTo>
                <a:lnTo>
                  <a:pt x="2434236" y="0"/>
                </a:lnTo>
                <a:lnTo>
                  <a:pt x="2434236" y="3197401"/>
                </a:lnTo>
                <a:lnTo>
                  <a:pt x="0" y="31974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38" t="-1943" r="0" b="-194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4744" y="1282538"/>
            <a:ext cx="1117691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96" y="690456"/>
            <a:ext cx="14756505" cy="122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 Beispiel: </a:t>
            </a:r>
          </a:p>
          <a:p>
            <a:pPr algn="l" marL="0" indent="0" lvl="0">
              <a:lnSpc>
                <a:spcPts val="4915"/>
              </a:lnSpc>
              <a:spcBef>
                <a:spcPct val="0"/>
              </a:spcBef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Mary likes John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96" y="690456"/>
            <a:ext cx="14756505" cy="122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 Beispiel: </a:t>
            </a:r>
          </a:p>
          <a:p>
            <a:pPr algn="l" marL="0" indent="0" lvl="0">
              <a:lnSpc>
                <a:spcPts val="4915"/>
              </a:lnSpc>
              <a:spcBef>
                <a:spcPct val="0"/>
              </a:spcBef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dog runs fast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96" y="690456"/>
            <a:ext cx="14756505" cy="122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 Beispiel: </a:t>
            </a:r>
          </a:p>
          <a:p>
            <a:pPr algn="l" marL="0" indent="0" lvl="0">
              <a:lnSpc>
                <a:spcPts val="4915"/>
              </a:lnSpc>
              <a:spcBef>
                <a:spcPct val="0"/>
              </a:spcBef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Who does John like?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96" y="690456"/>
            <a:ext cx="14756505" cy="122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5"/>
              </a:lnSpc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TAG Beispiel: </a:t>
            </a:r>
          </a:p>
          <a:p>
            <a:pPr algn="l" marL="0" indent="0" lvl="0">
              <a:lnSpc>
                <a:spcPts val="4915"/>
              </a:lnSpc>
              <a:spcBef>
                <a:spcPct val="0"/>
              </a:spcBef>
            </a:pPr>
            <a:r>
              <a:rPr lang="en-US" sz="35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Who does John like? + Who does John think Mary likes?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253" y="3552820"/>
            <a:ext cx="11301259" cy="2599290"/>
          </a:xfrm>
          <a:custGeom>
            <a:avLst/>
            <a:gdLst/>
            <a:ahLst/>
            <a:cxnLst/>
            <a:rect r="r" b="b" t="t" l="l"/>
            <a:pathLst>
              <a:path h="2599290" w="11301259">
                <a:moveTo>
                  <a:pt x="0" y="0"/>
                </a:moveTo>
                <a:lnTo>
                  <a:pt x="11301259" y="0"/>
                </a:lnTo>
                <a:lnTo>
                  <a:pt x="11301259" y="2599290"/>
                </a:lnTo>
                <a:lnTo>
                  <a:pt x="0" y="2599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Featurestrukturen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Warum Fatures?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253" y="3552820"/>
            <a:ext cx="11301259" cy="2599290"/>
          </a:xfrm>
          <a:custGeom>
            <a:avLst/>
            <a:gdLst/>
            <a:ahLst/>
            <a:cxnLst/>
            <a:rect r="r" b="b" t="t" l="l"/>
            <a:pathLst>
              <a:path h="2599290" w="11301259">
                <a:moveTo>
                  <a:pt x="0" y="0"/>
                </a:moveTo>
                <a:lnTo>
                  <a:pt x="11301259" y="0"/>
                </a:lnTo>
                <a:lnTo>
                  <a:pt x="11301259" y="2599290"/>
                </a:lnTo>
                <a:lnTo>
                  <a:pt x="0" y="2599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Featurestrukturen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Warum Fatures?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3325" y="3552825"/>
            <a:ext cx="546465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der weisse Hase schläft manchmal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der weisse Hase schläft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Hase schläft (manchmal)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253" y="3552820"/>
            <a:ext cx="11301259" cy="2599290"/>
          </a:xfrm>
          <a:custGeom>
            <a:avLst/>
            <a:gdLst/>
            <a:ahLst/>
            <a:cxnLst/>
            <a:rect r="r" b="b" t="t" l="l"/>
            <a:pathLst>
              <a:path h="2599290" w="11301259">
                <a:moveTo>
                  <a:pt x="0" y="0"/>
                </a:moveTo>
                <a:lnTo>
                  <a:pt x="11301259" y="0"/>
                </a:lnTo>
                <a:lnTo>
                  <a:pt x="11301259" y="2599290"/>
                </a:lnTo>
                <a:lnTo>
                  <a:pt x="0" y="2599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Featurestrukturen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Warum Fatures?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3325" y="3552825"/>
            <a:ext cx="546465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der weisse Hase schläft manchmal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der weisse Hase schläft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Hase schläft (manchmal)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3325" y="6570800"/>
            <a:ext cx="546465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→! das Hase schläft manchmal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→! der Mädchen schläft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2253" y="3552820"/>
            <a:ext cx="11301259" cy="2599290"/>
          </a:xfrm>
          <a:custGeom>
            <a:avLst/>
            <a:gdLst/>
            <a:ahLst/>
            <a:cxnLst/>
            <a:rect r="r" b="b" t="t" l="l"/>
            <a:pathLst>
              <a:path h="2599290" w="11301259">
                <a:moveTo>
                  <a:pt x="0" y="0"/>
                </a:moveTo>
                <a:lnTo>
                  <a:pt x="11301259" y="0"/>
                </a:lnTo>
                <a:lnTo>
                  <a:pt x="11301259" y="2599290"/>
                </a:lnTo>
                <a:lnTo>
                  <a:pt x="0" y="2599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Featurestrukturen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Warum Fatures?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3325" y="3552825"/>
            <a:ext cx="546465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der weisse Hase schläft manchmal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der weisse Hase schläft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Hase schläft (manchmal)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3325" y="6570800"/>
            <a:ext cx="546465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→! das Hase schläft manchmal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→! der Mädchen schläft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3340067"/>
            <a:ext cx="8579729" cy="5062040"/>
          </a:xfrm>
          <a:custGeom>
            <a:avLst/>
            <a:gdLst/>
            <a:ahLst/>
            <a:cxnLst/>
            <a:rect r="r" b="b" t="t" l="l"/>
            <a:pathLst>
              <a:path h="5062040" w="8579729">
                <a:moveTo>
                  <a:pt x="0" y="0"/>
                </a:moveTo>
                <a:lnTo>
                  <a:pt x="8579729" y="0"/>
                </a:lnTo>
                <a:lnTo>
                  <a:pt x="8579729" y="5062040"/>
                </a:lnTo>
                <a:lnTo>
                  <a:pt x="0" y="5062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Att</a:t>
            </a: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ribut-Wert-Matrizen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Subsumption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745" y="2761921"/>
            <a:ext cx="1658451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Eine FS F1 subsumie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rt die FS F2 (F1 ⊑ F2), wenn alle Informationen in F1 auch in F2 stehen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Unifikation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Informationen aus zwei FSen F1, F2 zusammenführen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Unifikation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Fehlschlag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Unifikation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Mit Reentrancy (vorsicht!)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15315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Englisch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Deutsch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15315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Englisch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Deutsch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15315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Englisch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Deutsch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2007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5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Englisch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Deutsch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3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nom/acc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(+ poss. pron.)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nom/gen/dat/acc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5151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Englisch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Deutsch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9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nom/acc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(+ poss. pron.)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nom/gen/dat/acc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m/f/n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5151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Englisch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Deutsch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sg/pl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1st/2nd/3rd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9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nom/acc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(+ poss. pron.)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nom/gen/dat/acc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m/f/n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+/-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7635" y="3682860"/>
            <a:ext cx="10351615" cy="5735163"/>
          </a:xfrm>
          <a:custGeom>
            <a:avLst/>
            <a:gdLst/>
            <a:ahLst/>
            <a:cxnLst/>
            <a:rect r="r" b="b" t="t" l="l"/>
            <a:pathLst>
              <a:path h="5735163" w="10351615">
                <a:moveTo>
                  <a:pt x="0" y="0"/>
                </a:moveTo>
                <a:lnTo>
                  <a:pt x="10351615" y="0"/>
                </a:lnTo>
                <a:lnTo>
                  <a:pt x="10351615" y="5735163"/>
                </a:lnTo>
                <a:lnTo>
                  <a:pt x="0" y="5735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259" y="3881282"/>
            <a:ext cx="322681" cy="370485"/>
          </a:xfrm>
          <a:custGeom>
            <a:avLst/>
            <a:gdLst/>
            <a:ahLst/>
            <a:cxnLst/>
            <a:rect r="r" b="b" t="t" l="l"/>
            <a:pathLst>
              <a:path h="370485" w="322681">
                <a:moveTo>
                  <a:pt x="0" y="0"/>
                </a:moveTo>
                <a:lnTo>
                  <a:pt x="322681" y="0"/>
                </a:lnTo>
                <a:lnTo>
                  <a:pt x="322681" y="370486"/>
                </a:lnTo>
                <a:lnTo>
                  <a:pt x="0" y="370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47589" y="4496933"/>
            <a:ext cx="296411" cy="340324"/>
          </a:xfrm>
          <a:custGeom>
            <a:avLst/>
            <a:gdLst/>
            <a:ahLst/>
            <a:cxnLst/>
            <a:rect r="r" b="b" t="t" l="l"/>
            <a:pathLst>
              <a:path h="340324" w="296411">
                <a:moveTo>
                  <a:pt x="0" y="0"/>
                </a:moveTo>
                <a:lnTo>
                  <a:pt x="296411" y="0"/>
                </a:lnTo>
                <a:lnTo>
                  <a:pt x="296411" y="340324"/>
                </a:lnTo>
                <a:lnTo>
                  <a:pt x="0" y="340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99700" y="7951409"/>
            <a:ext cx="309758" cy="599836"/>
          </a:xfrm>
          <a:custGeom>
            <a:avLst/>
            <a:gdLst/>
            <a:ahLst/>
            <a:cxnLst/>
            <a:rect r="r" b="b" t="t" l="l"/>
            <a:pathLst>
              <a:path h="599836" w="309758">
                <a:moveTo>
                  <a:pt x="0" y="0"/>
                </a:moveTo>
                <a:lnTo>
                  <a:pt x="309758" y="0"/>
                </a:lnTo>
                <a:lnTo>
                  <a:pt x="309758" y="599836"/>
                </a:lnTo>
                <a:lnTo>
                  <a:pt x="0" y="599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65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99700" y="7663441"/>
            <a:ext cx="2167486" cy="459374"/>
          </a:xfrm>
          <a:custGeom>
            <a:avLst/>
            <a:gdLst/>
            <a:ahLst/>
            <a:cxnLst/>
            <a:rect r="r" b="b" t="t" l="l"/>
            <a:pathLst>
              <a:path h="459374" w="2167486">
                <a:moveTo>
                  <a:pt x="0" y="0"/>
                </a:moveTo>
                <a:lnTo>
                  <a:pt x="2167485" y="0"/>
                </a:lnTo>
                <a:lnTo>
                  <a:pt x="2167485" y="459374"/>
                </a:lnTo>
                <a:lnTo>
                  <a:pt x="0" y="45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2681" r="-13677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3206" y="7050590"/>
            <a:ext cx="411058" cy="471955"/>
          </a:xfrm>
          <a:custGeom>
            <a:avLst/>
            <a:gdLst/>
            <a:ahLst/>
            <a:cxnLst/>
            <a:rect r="r" b="b" t="t" l="l"/>
            <a:pathLst>
              <a:path h="471955" w="411058">
                <a:moveTo>
                  <a:pt x="0" y="0"/>
                </a:moveTo>
                <a:lnTo>
                  <a:pt x="411057" y="0"/>
                </a:lnTo>
                <a:lnTo>
                  <a:pt x="411057" y="471955"/>
                </a:lnTo>
                <a:lnTo>
                  <a:pt x="0" y="471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Was pass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iert bei Adjunktion mit Features?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204263" y="4251768"/>
            <a:ext cx="309758" cy="447436"/>
          </a:xfrm>
          <a:custGeom>
            <a:avLst/>
            <a:gdLst/>
            <a:ahLst/>
            <a:cxnLst/>
            <a:rect r="r" b="b" t="t" l="l"/>
            <a:pathLst>
              <a:path h="447436" w="309758">
                <a:moveTo>
                  <a:pt x="0" y="0"/>
                </a:moveTo>
                <a:lnTo>
                  <a:pt x="309758" y="0"/>
                </a:lnTo>
                <a:lnTo>
                  <a:pt x="309758" y="447436"/>
                </a:lnTo>
                <a:lnTo>
                  <a:pt x="0" y="447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659" b="-3406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52757" y="5242266"/>
            <a:ext cx="309758" cy="447436"/>
          </a:xfrm>
          <a:custGeom>
            <a:avLst/>
            <a:gdLst/>
            <a:ahLst/>
            <a:cxnLst/>
            <a:rect r="r" b="b" t="t" l="l"/>
            <a:pathLst>
              <a:path h="447436" w="309758">
                <a:moveTo>
                  <a:pt x="0" y="0"/>
                </a:moveTo>
                <a:lnTo>
                  <a:pt x="309758" y="0"/>
                </a:lnTo>
                <a:lnTo>
                  <a:pt x="309758" y="447436"/>
                </a:lnTo>
                <a:lnTo>
                  <a:pt x="0" y="447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659" b="-3406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13909" y="5689702"/>
            <a:ext cx="2167486" cy="459374"/>
          </a:xfrm>
          <a:custGeom>
            <a:avLst/>
            <a:gdLst/>
            <a:ahLst/>
            <a:cxnLst/>
            <a:rect r="r" b="b" t="t" l="l"/>
            <a:pathLst>
              <a:path h="459374" w="2167486">
                <a:moveTo>
                  <a:pt x="0" y="0"/>
                </a:moveTo>
                <a:lnTo>
                  <a:pt x="2167486" y="0"/>
                </a:lnTo>
                <a:lnTo>
                  <a:pt x="2167486" y="459374"/>
                </a:lnTo>
                <a:lnTo>
                  <a:pt x="0" y="45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2681" r="-13677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32214" y="3881282"/>
            <a:ext cx="2167486" cy="459374"/>
          </a:xfrm>
          <a:custGeom>
            <a:avLst/>
            <a:gdLst/>
            <a:ahLst/>
            <a:cxnLst/>
            <a:rect r="r" b="b" t="t" l="l"/>
            <a:pathLst>
              <a:path h="459374" w="2167486">
                <a:moveTo>
                  <a:pt x="0" y="0"/>
                </a:moveTo>
                <a:lnTo>
                  <a:pt x="2167486" y="0"/>
                </a:lnTo>
                <a:lnTo>
                  <a:pt x="2167486" y="459374"/>
                </a:lnTo>
                <a:lnTo>
                  <a:pt x="0" y="45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2681" r="-13677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95795" y="4437408"/>
            <a:ext cx="2167486" cy="541962"/>
          </a:xfrm>
          <a:custGeom>
            <a:avLst/>
            <a:gdLst/>
            <a:ahLst/>
            <a:cxnLst/>
            <a:rect r="r" b="b" t="t" l="l"/>
            <a:pathLst>
              <a:path h="541962" w="2167486">
                <a:moveTo>
                  <a:pt x="0" y="0"/>
                </a:moveTo>
                <a:lnTo>
                  <a:pt x="2167485" y="0"/>
                </a:lnTo>
                <a:lnTo>
                  <a:pt x="2167485" y="541962"/>
                </a:lnTo>
                <a:lnTo>
                  <a:pt x="0" y="541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89" t="-1182681" r="-170351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98734" y="4239830"/>
            <a:ext cx="2167486" cy="459374"/>
          </a:xfrm>
          <a:custGeom>
            <a:avLst/>
            <a:gdLst/>
            <a:ahLst/>
            <a:cxnLst/>
            <a:rect r="r" b="b" t="t" l="l"/>
            <a:pathLst>
              <a:path h="459374" w="2167486">
                <a:moveTo>
                  <a:pt x="0" y="0"/>
                </a:moveTo>
                <a:lnTo>
                  <a:pt x="2167486" y="0"/>
                </a:lnTo>
                <a:lnTo>
                  <a:pt x="2167486" y="459374"/>
                </a:lnTo>
                <a:lnTo>
                  <a:pt x="0" y="45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2681" r="-136772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07636" y="5143500"/>
            <a:ext cx="2167486" cy="546202"/>
          </a:xfrm>
          <a:custGeom>
            <a:avLst/>
            <a:gdLst/>
            <a:ahLst/>
            <a:cxnLst/>
            <a:rect r="r" b="b" t="t" l="l"/>
            <a:pathLst>
              <a:path h="546202" w="2167486">
                <a:moveTo>
                  <a:pt x="0" y="0"/>
                </a:moveTo>
                <a:lnTo>
                  <a:pt x="2167485" y="0"/>
                </a:lnTo>
                <a:lnTo>
                  <a:pt x="2167485" y="546202"/>
                </a:lnTo>
                <a:lnTo>
                  <a:pt x="0" y="54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50" t="-1182681" r="-17207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04263" y="7050590"/>
            <a:ext cx="2167486" cy="541962"/>
          </a:xfrm>
          <a:custGeom>
            <a:avLst/>
            <a:gdLst/>
            <a:ahLst/>
            <a:cxnLst/>
            <a:rect r="r" b="b" t="t" l="l"/>
            <a:pathLst>
              <a:path h="541962" w="2167486">
                <a:moveTo>
                  <a:pt x="0" y="0"/>
                </a:moveTo>
                <a:lnTo>
                  <a:pt x="2167486" y="0"/>
                </a:lnTo>
                <a:lnTo>
                  <a:pt x="2167486" y="541962"/>
                </a:lnTo>
                <a:lnTo>
                  <a:pt x="0" y="541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89" t="-1182681" r="-170351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93206" y="8078327"/>
            <a:ext cx="2167486" cy="541962"/>
          </a:xfrm>
          <a:custGeom>
            <a:avLst/>
            <a:gdLst/>
            <a:ahLst/>
            <a:cxnLst/>
            <a:rect r="r" b="b" t="t" l="l"/>
            <a:pathLst>
              <a:path h="541962" w="2167486">
                <a:moveTo>
                  <a:pt x="0" y="0"/>
                </a:moveTo>
                <a:lnTo>
                  <a:pt x="2167485" y="0"/>
                </a:lnTo>
                <a:lnTo>
                  <a:pt x="2167485" y="541961"/>
                </a:lnTo>
                <a:lnTo>
                  <a:pt x="0" y="541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89" t="-1182681" r="-170351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7635" y="3682860"/>
            <a:ext cx="10351615" cy="5735163"/>
          </a:xfrm>
          <a:custGeom>
            <a:avLst/>
            <a:gdLst/>
            <a:ahLst/>
            <a:cxnLst/>
            <a:rect r="r" b="b" t="t" l="l"/>
            <a:pathLst>
              <a:path h="5735163" w="10351615">
                <a:moveTo>
                  <a:pt x="0" y="0"/>
                </a:moveTo>
                <a:lnTo>
                  <a:pt x="10351615" y="0"/>
                </a:lnTo>
                <a:lnTo>
                  <a:pt x="10351615" y="5735163"/>
                </a:lnTo>
                <a:lnTo>
                  <a:pt x="0" y="5735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259" y="3881282"/>
            <a:ext cx="322681" cy="370485"/>
          </a:xfrm>
          <a:custGeom>
            <a:avLst/>
            <a:gdLst/>
            <a:ahLst/>
            <a:cxnLst/>
            <a:rect r="r" b="b" t="t" l="l"/>
            <a:pathLst>
              <a:path h="370485" w="322681">
                <a:moveTo>
                  <a:pt x="0" y="0"/>
                </a:moveTo>
                <a:lnTo>
                  <a:pt x="322681" y="0"/>
                </a:lnTo>
                <a:lnTo>
                  <a:pt x="322681" y="370486"/>
                </a:lnTo>
                <a:lnTo>
                  <a:pt x="0" y="370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47589" y="4496933"/>
            <a:ext cx="296411" cy="340324"/>
          </a:xfrm>
          <a:custGeom>
            <a:avLst/>
            <a:gdLst/>
            <a:ahLst/>
            <a:cxnLst/>
            <a:rect r="r" b="b" t="t" l="l"/>
            <a:pathLst>
              <a:path h="340324" w="296411">
                <a:moveTo>
                  <a:pt x="0" y="0"/>
                </a:moveTo>
                <a:lnTo>
                  <a:pt x="296411" y="0"/>
                </a:lnTo>
                <a:lnTo>
                  <a:pt x="296411" y="340324"/>
                </a:lnTo>
                <a:lnTo>
                  <a:pt x="0" y="340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99700" y="7951409"/>
            <a:ext cx="309758" cy="599836"/>
          </a:xfrm>
          <a:custGeom>
            <a:avLst/>
            <a:gdLst/>
            <a:ahLst/>
            <a:cxnLst/>
            <a:rect r="r" b="b" t="t" l="l"/>
            <a:pathLst>
              <a:path h="599836" w="309758">
                <a:moveTo>
                  <a:pt x="0" y="0"/>
                </a:moveTo>
                <a:lnTo>
                  <a:pt x="309758" y="0"/>
                </a:lnTo>
                <a:lnTo>
                  <a:pt x="309758" y="599836"/>
                </a:lnTo>
                <a:lnTo>
                  <a:pt x="0" y="599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65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99700" y="7663441"/>
            <a:ext cx="2167486" cy="459374"/>
          </a:xfrm>
          <a:custGeom>
            <a:avLst/>
            <a:gdLst/>
            <a:ahLst/>
            <a:cxnLst/>
            <a:rect r="r" b="b" t="t" l="l"/>
            <a:pathLst>
              <a:path h="459374" w="2167486">
                <a:moveTo>
                  <a:pt x="0" y="0"/>
                </a:moveTo>
                <a:lnTo>
                  <a:pt x="2167485" y="0"/>
                </a:lnTo>
                <a:lnTo>
                  <a:pt x="2167485" y="459374"/>
                </a:lnTo>
                <a:lnTo>
                  <a:pt x="0" y="45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2681" r="-13677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3206" y="7050590"/>
            <a:ext cx="411058" cy="471955"/>
          </a:xfrm>
          <a:custGeom>
            <a:avLst/>
            <a:gdLst/>
            <a:ahLst/>
            <a:cxnLst/>
            <a:rect r="r" b="b" t="t" l="l"/>
            <a:pathLst>
              <a:path h="471955" w="411058">
                <a:moveTo>
                  <a:pt x="0" y="0"/>
                </a:moveTo>
                <a:lnTo>
                  <a:pt x="411057" y="0"/>
                </a:lnTo>
                <a:lnTo>
                  <a:pt x="411057" y="471955"/>
                </a:lnTo>
                <a:lnTo>
                  <a:pt x="0" y="471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Was pass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iert bei Adjunktion mit Features?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3883995"/>
            <a:ext cx="471109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Ein Knoten A hat eine FS. Ein Auxiliarbaum wird adjungiert. Welche FS gilt jetzt?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6427170"/>
            <a:ext cx="471109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Die FS der Wurzel des Auxiliarbaums? Oder des Fußknotens? Oder beides?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204263" y="4251768"/>
            <a:ext cx="309758" cy="447436"/>
          </a:xfrm>
          <a:custGeom>
            <a:avLst/>
            <a:gdLst/>
            <a:ahLst/>
            <a:cxnLst/>
            <a:rect r="r" b="b" t="t" l="l"/>
            <a:pathLst>
              <a:path h="447436" w="309758">
                <a:moveTo>
                  <a:pt x="0" y="0"/>
                </a:moveTo>
                <a:lnTo>
                  <a:pt x="309758" y="0"/>
                </a:lnTo>
                <a:lnTo>
                  <a:pt x="309758" y="447436"/>
                </a:lnTo>
                <a:lnTo>
                  <a:pt x="0" y="447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659" b="-3406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52757" y="5242266"/>
            <a:ext cx="309758" cy="447436"/>
          </a:xfrm>
          <a:custGeom>
            <a:avLst/>
            <a:gdLst/>
            <a:ahLst/>
            <a:cxnLst/>
            <a:rect r="r" b="b" t="t" l="l"/>
            <a:pathLst>
              <a:path h="447436" w="309758">
                <a:moveTo>
                  <a:pt x="0" y="0"/>
                </a:moveTo>
                <a:lnTo>
                  <a:pt x="309758" y="0"/>
                </a:lnTo>
                <a:lnTo>
                  <a:pt x="309758" y="447436"/>
                </a:lnTo>
                <a:lnTo>
                  <a:pt x="0" y="447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659" b="-3406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13909" y="5689702"/>
            <a:ext cx="2167486" cy="459374"/>
          </a:xfrm>
          <a:custGeom>
            <a:avLst/>
            <a:gdLst/>
            <a:ahLst/>
            <a:cxnLst/>
            <a:rect r="r" b="b" t="t" l="l"/>
            <a:pathLst>
              <a:path h="459374" w="2167486">
                <a:moveTo>
                  <a:pt x="0" y="0"/>
                </a:moveTo>
                <a:lnTo>
                  <a:pt x="2167486" y="0"/>
                </a:lnTo>
                <a:lnTo>
                  <a:pt x="2167486" y="459374"/>
                </a:lnTo>
                <a:lnTo>
                  <a:pt x="0" y="459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2681" r="-136772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7635" y="3626263"/>
            <a:ext cx="10351615" cy="5735163"/>
          </a:xfrm>
          <a:custGeom>
            <a:avLst/>
            <a:gdLst/>
            <a:ahLst/>
            <a:cxnLst/>
            <a:rect r="r" b="b" t="t" l="l"/>
            <a:pathLst>
              <a:path h="5735163" w="10351615">
                <a:moveTo>
                  <a:pt x="0" y="0"/>
                </a:moveTo>
                <a:lnTo>
                  <a:pt x="10351615" y="0"/>
                </a:lnTo>
                <a:lnTo>
                  <a:pt x="10351615" y="5735163"/>
                </a:lnTo>
                <a:lnTo>
                  <a:pt x="0" y="5735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Was pass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iert bei Adjunktion mit Features?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3883995"/>
            <a:ext cx="471109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Ein Knoten A hat eine FS. Ein Auxiliarbaum wird adjungiert. Welche FS gilt jetzt?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6427170"/>
            <a:ext cx="471109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Die FS der Wurzel des Auxiliarbaums? Oder des Fußknotens? Oder beides?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3856230"/>
            <a:ext cx="7613096" cy="4217926"/>
          </a:xfrm>
          <a:custGeom>
            <a:avLst/>
            <a:gdLst/>
            <a:ahLst/>
            <a:cxnLst/>
            <a:rect r="r" b="b" t="t" l="l"/>
            <a:pathLst>
              <a:path h="4217926" w="7613096">
                <a:moveTo>
                  <a:pt x="0" y="0"/>
                </a:moveTo>
                <a:lnTo>
                  <a:pt x="7613096" y="0"/>
                </a:lnTo>
                <a:lnTo>
                  <a:pt x="7613096" y="4217926"/>
                </a:lnTo>
                <a:lnTo>
                  <a:pt x="0" y="4217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4058" y="1222470"/>
            <a:ext cx="9804138" cy="1170643"/>
          </a:xfrm>
          <a:custGeom>
            <a:avLst/>
            <a:gdLst/>
            <a:ahLst/>
            <a:cxnLst/>
            <a:rect r="r" b="b" t="t" l="l"/>
            <a:pathLst>
              <a:path h="1170643" w="9804138">
                <a:moveTo>
                  <a:pt x="0" y="0"/>
                </a:moveTo>
                <a:lnTo>
                  <a:pt x="9804138" y="0"/>
                </a:lnTo>
                <a:lnTo>
                  <a:pt x="9804138" y="1170644"/>
                </a:lnTo>
                <a:lnTo>
                  <a:pt x="0" y="1170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577215"/>
            <a:ext cx="8217454" cy="4775956"/>
          </a:xfrm>
          <a:custGeom>
            <a:avLst/>
            <a:gdLst/>
            <a:ahLst/>
            <a:cxnLst/>
            <a:rect r="r" b="b" t="t" l="l"/>
            <a:pathLst>
              <a:path h="4775956" w="8217454">
                <a:moveTo>
                  <a:pt x="0" y="0"/>
                </a:moveTo>
                <a:lnTo>
                  <a:pt x="8217454" y="0"/>
                </a:lnTo>
                <a:lnTo>
                  <a:pt x="8217454" y="4775956"/>
                </a:lnTo>
                <a:lnTo>
                  <a:pt x="0" y="4775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54526" y="4224053"/>
            <a:ext cx="2122076" cy="2357863"/>
          </a:xfrm>
          <a:custGeom>
            <a:avLst/>
            <a:gdLst/>
            <a:ahLst/>
            <a:cxnLst/>
            <a:rect r="r" b="b" t="t" l="l"/>
            <a:pathLst>
              <a:path h="2357863" w="2122076">
                <a:moveTo>
                  <a:pt x="0" y="0"/>
                </a:moveTo>
                <a:lnTo>
                  <a:pt x="2122076" y="0"/>
                </a:lnTo>
                <a:lnTo>
                  <a:pt x="2122076" y="2357863"/>
                </a:lnTo>
                <a:lnTo>
                  <a:pt x="0" y="2357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46108" y="6424133"/>
            <a:ext cx="2299021" cy="1422665"/>
          </a:xfrm>
          <a:custGeom>
            <a:avLst/>
            <a:gdLst/>
            <a:ahLst/>
            <a:cxnLst/>
            <a:rect r="r" b="b" t="t" l="l"/>
            <a:pathLst>
              <a:path h="1422665" w="2299021">
                <a:moveTo>
                  <a:pt x="0" y="0"/>
                </a:moveTo>
                <a:lnTo>
                  <a:pt x="2299021" y="0"/>
                </a:lnTo>
                <a:lnTo>
                  <a:pt x="2299021" y="1422665"/>
                </a:lnTo>
                <a:lnTo>
                  <a:pt x="0" y="142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9777" r="0" b="-3977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Was pass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iert bei Adjunktion mit Features?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4058" y="1222470"/>
            <a:ext cx="9804138" cy="1170643"/>
          </a:xfrm>
          <a:custGeom>
            <a:avLst/>
            <a:gdLst/>
            <a:ahLst/>
            <a:cxnLst/>
            <a:rect r="r" b="b" t="t" l="l"/>
            <a:pathLst>
              <a:path h="1170643" w="9804138">
                <a:moveTo>
                  <a:pt x="0" y="0"/>
                </a:moveTo>
                <a:lnTo>
                  <a:pt x="9804138" y="0"/>
                </a:lnTo>
                <a:lnTo>
                  <a:pt x="9804138" y="1170644"/>
                </a:lnTo>
                <a:lnTo>
                  <a:pt x="0" y="1170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577215"/>
            <a:ext cx="8217454" cy="4775956"/>
          </a:xfrm>
          <a:custGeom>
            <a:avLst/>
            <a:gdLst/>
            <a:ahLst/>
            <a:cxnLst/>
            <a:rect r="r" b="b" t="t" l="l"/>
            <a:pathLst>
              <a:path h="4775956" w="8217454">
                <a:moveTo>
                  <a:pt x="0" y="0"/>
                </a:moveTo>
                <a:lnTo>
                  <a:pt x="8217454" y="0"/>
                </a:lnTo>
                <a:lnTo>
                  <a:pt x="8217454" y="4775956"/>
                </a:lnTo>
                <a:lnTo>
                  <a:pt x="0" y="4775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Was pass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iert bei Adjunktion mit Features?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750" y="4064669"/>
            <a:ext cx="4034019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 u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bottom jedes Knotens werden unifiziert. Schlägt das fehl → Ableitung ungültig.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05124" y="3086100"/>
          <a:ext cx="10925507" cy="5133975"/>
        </p:xfrm>
        <a:graphic>
          <a:graphicData uri="http://schemas.openxmlformats.org/drawingml/2006/table">
            <a:tbl>
              <a:tblPr/>
              <a:tblGrid>
                <a:gridCol w="4422398"/>
                <a:gridCol w="3170294"/>
                <a:gridCol w="3332814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Knoten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Top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Bottom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Substitutionsknoten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Fußknoten 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Wurzel eines Baums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Innerer 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05124" y="3086100"/>
          <a:ext cx="10925507" cy="5133975"/>
        </p:xfrm>
        <a:graphic>
          <a:graphicData uri="http://schemas.openxmlformats.org/drawingml/2006/table">
            <a:tbl>
              <a:tblPr/>
              <a:tblGrid>
                <a:gridCol w="4422398"/>
                <a:gridCol w="3170294"/>
                <a:gridCol w="3332814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Knoten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Top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Bottom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Substitutionsknoten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Fußknoten 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Wurzel eines Baums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Innerer 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107923" y="4367381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05863" y="4420376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05124" y="3086100"/>
          <a:ext cx="10925507" cy="5133975"/>
        </p:xfrm>
        <a:graphic>
          <a:graphicData uri="http://schemas.openxmlformats.org/drawingml/2006/table">
            <a:tbl>
              <a:tblPr/>
              <a:tblGrid>
                <a:gridCol w="4422398"/>
                <a:gridCol w="3170294"/>
                <a:gridCol w="3332814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Knoten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Top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Bottom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Substitutionsknoten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Fußknoten 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Wurzel eines Baums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Innerer 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107923" y="4367381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07923" y="5388158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05863" y="4420376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05863" y="5441153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05124" y="3086100"/>
          <a:ext cx="10925507" cy="5133975"/>
        </p:xfrm>
        <a:graphic>
          <a:graphicData uri="http://schemas.openxmlformats.org/drawingml/2006/table">
            <a:tbl>
              <a:tblPr/>
              <a:tblGrid>
                <a:gridCol w="4422398"/>
                <a:gridCol w="3170294"/>
                <a:gridCol w="3332814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Knoten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Top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Bottom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Substitutionsknoten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Fußknoten 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Wurzel eines Baums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Innerer 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107923" y="4367381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07923" y="5388158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05863" y="4420376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05863" y="5441153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07923" y="6413317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3"/>
                </a:lnTo>
                <a:lnTo>
                  <a:pt x="0" y="476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05863" y="6413317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8"/>
                </a:lnTo>
                <a:lnTo>
                  <a:pt x="0" y="529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05124" y="3086100"/>
          <a:ext cx="10925507" cy="5133975"/>
        </p:xfrm>
        <a:graphic>
          <a:graphicData uri="http://schemas.openxmlformats.org/drawingml/2006/table">
            <a:tbl>
              <a:tblPr/>
              <a:tblGrid>
                <a:gridCol w="4422398"/>
                <a:gridCol w="3170294"/>
                <a:gridCol w="3332814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Knoten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Top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Bottom FS?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Substitutionsknoten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Fußknoten 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Wurzel eines Baums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Innerer Knoten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nicht leer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107923" y="4367381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07923" y="5388158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05863" y="4420376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05863" y="5441153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4"/>
                </a:lnTo>
                <a:lnTo>
                  <a:pt x="0" y="47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07923" y="6413317"/>
            <a:ext cx="476863" cy="476863"/>
          </a:xfrm>
          <a:custGeom>
            <a:avLst/>
            <a:gdLst/>
            <a:ahLst/>
            <a:cxnLst/>
            <a:rect r="r" b="b" t="t" l="l"/>
            <a:pathLst>
              <a:path h="476863" w="476863">
                <a:moveTo>
                  <a:pt x="0" y="0"/>
                </a:moveTo>
                <a:lnTo>
                  <a:pt x="476864" y="0"/>
                </a:lnTo>
                <a:lnTo>
                  <a:pt x="476864" y="476863"/>
                </a:lnTo>
                <a:lnTo>
                  <a:pt x="0" y="476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05863" y="6413317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8"/>
                </a:lnTo>
                <a:lnTo>
                  <a:pt x="0" y="529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07923" y="7461209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05863" y="7438475"/>
            <a:ext cx="687317" cy="529859"/>
          </a:xfrm>
          <a:custGeom>
            <a:avLst/>
            <a:gdLst/>
            <a:ahLst/>
            <a:cxnLst/>
            <a:rect r="r" b="b" t="t" l="l"/>
            <a:pathLst>
              <a:path h="529859" w="687317">
                <a:moveTo>
                  <a:pt x="0" y="0"/>
                </a:moveTo>
                <a:lnTo>
                  <a:pt x="687317" y="0"/>
                </a:lnTo>
                <a:lnTo>
                  <a:pt x="687317" y="529859"/>
                </a:lnTo>
                <a:lnTo>
                  <a:pt x="0" y="529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 und bottom FS in alto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72336"/>
            <a:ext cx="9790870" cy="558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ree alphanx0Vnx1_nw: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S[] {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NP! [wh=yes, case=acc]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S[inv=yes][inv=no] {  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NP! [wh=no]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V+ [fin=no]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}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}</a:t>
            </a:r>
          </a:p>
          <a:p>
            <a:pPr algn="l">
              <a:lnSpc>
                <a:spcPts val="3154"/>
              </a:lnSpc>
            </a:pP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tree aux: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S[][inv=yes] {          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Aux+</a:t>
            </a:r>
          </a:p>
          <a:p>
            <a:pPr algn="l">
              <a:lnSpc>
                <a:spcPts val="3154"/>
              </a:lnSpc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S* [inv=no]            </a:t>
            </a:r>
          </a:p>
          <a:p>
            <a:pPr algn="l" marL="0" indent="0" lvl="0">
              <a:lnSpc>
                <a:spcPts val="3154"/>
              </a:lnSpc>
              <a:spcBef>
                <a:spcPct val="0"/>
              </a:spcBef>
            </a:pPr>
            <a:r>
              <a:rPr lang="en-US" sz="225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25295" y="2943761"/>
            <a:ext cx="678262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Ein FS-Block: nur top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Zwei FS-Blöcke: erster = top, zweiter = bottom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Kein Block: beide leer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15771" y="437757"/>
            <a:ext cx="7531185" cy="2184044"/>
          </a:xfrm>
          <a:custGeom>
            <a:avLst/>
            <a:gdLst/>
            <a:ahLst/>
            <a:cxnLst/>
            <a:rect r="r" b="b" t="t" l="l"/>
            <a:pathLst>
              <a:path h="2184044" w="7531185">
                <a:moveTo>
                  <a:pt x="0" y="0"/>
                </a:moveTo>
                <a:lnTo>
                  <a:pt x="7531185" y="0"/>
                </a:lnTo>
                <a:lnTo>
                  <a:pt x="7531185" y="2184044"/>
                </a:lnTo>
                <a:lnTo>
                  <a:pt x="0" y="218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Fernabhängigkeiten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Ohne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4120638"/>
            <a:ext cx="9187021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em hans es huus hälfed aastriiche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mer d chind es huus lönd aastriiche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mer d chind em hans es huus lönd hälfe aastriiche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4120638"/>
            <a:ext cx="9187021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em hans es huus hälfed aastriiche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mer d chind es huus lönd aastriiche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mer d chind em hans es huus lönd hälfe aastriiche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Fernabhängigkeiten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Ohne Features</a:t>
            </a:r>
          </a:p>
        </p:txBody>
      </p:sp>
      <p:sp>
        <p:nvSpPr>
          <p:cNvPr name="AutoShape 5" id="5"/>
          <p:cNvSpPr/>
          <p:nvPr/>
        </p:nvSpPr>
        <p:spPr>
          <a:xfrm>
            <a:off x="1428750" y="4483075"/>
            <a:ext cx="70519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28750" y="5006950"/>
            <a:ext cx="6518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8750" y="5530825"/>
            <a:ext cx="92158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28750" y="6272035"/>
            <a:ext cx="10599175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wij Hans het huis helpen beschilderen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wij de kinderen het huis laten beschilderen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wij de kinderen Hans het huis laten helpen beschilderen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Fernabhängigkeiten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41020"/>
            <a:ext cx="1303612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Mit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3781425"/>
            <a:ext cx="10599175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wij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kinderen Hans het huis </a:t>
            </a: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laten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helpen beschilderen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num=pl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ik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kinderen Hans het huis </a:t>
            </a:r>
            <a:r>
              <a:rPr lang="en-US" sz="3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laat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helpen beschilderen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num=sg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78161" y="681852"/>
            <a:ext cx="10225356" cy="5329967"/>
          </a:xfrm>
          <a:custGeom>
            <a:avLst/>
            <a:gdLst/>
            <a:ahLst/>
            <a:cxnLst/>
            <a:rect r="r" b="b" t="t" l="l"/>
            <a:pathLst>
              <a:path h="5329967" w="10225356">
                <a:moveTo>
                  <a:pt x="0" y="0"/>
                </a:moveTo>
                <a:lnTo>
                  <a:pt x="10225355" y="0"/>
                </a:lnTo>
                <a:lnTo>
                  <a:pt x="10225355" y="5329967"/>
                </a:lnTo>
                <a:lnTo>
                  <a:pt x="0" y="5329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 Alto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2941020"/>
            <a:ext cx="1303612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Who does John like → Korrekt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Who does John likes → Falsch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8299" y="4726369"/>
            <a:ext cx="13036123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Im Elementarbaum: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t:[inv:+]    ←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erwartet Adjunktion außen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b:[inv:−]    ← gibt nach innen weiter: kein Inverter mehr nötig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...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40072" y="0"/>
            <a:ext cx="10225356" cy="5329967"/>
          </a:xfrm>
          <a:custGeom>
            <a:avLst/>
            <a:gdLst/>
            <a:ahLst/>
            <a:cxnLst/>
            <a:rect r="r" b="b" t="t" l="l"/>
            <a:pathLst>
              <a:path h="5329967" w="10225356">
                <a:moveTo>
                  <a:pt x="0" y="0"/>
                </a:moveTo>
                <a:lnTo>
                  <a:pt x="10225355" y="0"/>
                </a:lnTo>
                <a:lnTo>
                  <a:pt x="10225355" y="5329967"/>
                </a:lnTo>
                <a:lnTo>
                  <a:pt x="0" y="5329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 Alto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0845" y="2828925"/>
            <a:ext cx="13920421" cy="745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tree alphanx0Vnx1_nw: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S[] {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NP! [wh=yes,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case=acc]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S[inv=yes][inv=no] { </a:t>
            </a: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← </a:t>
            </a: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top=inv:yes, bottom=inv:no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NP! [wh=no]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V+ [fin=no] }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}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tree aux: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S[][inv=yes] {</a:t>
            </a: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← bottom=inv:yes → unifiziert mit top des eingebetteten 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Aux+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S* [inv=no] </a:t>
            </a: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← top des Fußknotens = inv:no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122654"/>
            <a:ext cx="8115300" cy="6147340"/>
          </a:xfrm>
          <a:custGeom>
            <a:avLst/>
            <a:gdLst/>
            <a:ahLst/>
            <a:cxnLst/>
            <a:rect r="r" b="b" t="t" l="l"/>
            <a:pathLst>
              <a:path h="6147340" w="8115300">
                <a:moveTo>
                  <a:pt x="0" y="0"/>
                </a:moveTo>
                <a:lnTo>
                  <a:pt x="8115300" y="0"/>
                </a:lnTo>
                <a:lnTo>
                  <a:pt x="8115300" y="6147339"/>
                </a:lnTo>
                <a:lnTo>
                  <a:pt x="0" y="6147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8571063" cy="2764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218" indent="-282609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Großschreibung: </a:t>
            </a:r>
            <a:r>
              <a:rPr lang="en-US" sz="26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Der ≠ der</a:t>
            </a:r>
          </a:p>
          <a:p>
            <a:pPr algn="l" marL="565218" indent="-282609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Umlaut: immer in Anführungszeichen: 'schläft', 'ä'</a:t>
            </a:r>
          </a:p>
          <a:p>
            <a:pPr algn="l" marL="565218" indent="-282609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ODER: einfach schlaeft</a:t>
            </a:r>
          </a:p>
          <a:p>
            <a:pPr algn="l" marL="565218" indent="-282609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Startzeichen: muss S (Großbuchstabe) sein</a:t>
            </a:r>
          </a:p>
          <a:p>
            <a:pPr algn="l" marL="565218" indent="-282609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Variablen in FS: mit ? beginnen: [case=?c]</a:t>
            </a:r>
          </a:p>
          <a:p>
            <a:pPr algn="l">
              <a:lnSpc>
                <a:spcPts val="366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503776" y="3832045"/>
            <a:ext cx="191974" cy="102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7"/>
              </a:lnSpc>
              <a:spcBef>
                <a:spcPct val="0"/>
              </a:spcBef>
            </a:pPr>
            <a:r>
              <a:rPr lang="en-US" sz="5976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61224" y="3832045"/>
            <a:ext cx="191974" cy="102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7"/>
              </a:lnSpc>
              <a:spcBef>
                <a:spcPct val="0"/>
              </a:spcBef>
            </a:pPr>
            <a:r>
              <a:rPr lang="en-US" sz="5976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!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3049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Fragen?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2985794"/>
            <a:ext cx="13036123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Moodle Forum: Diskussionen</a:t>
            </a:r>
          </a:p>
          <a:p>
            <a:pPr algn="l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DAHHN78eq9E</dc:identifier>
  <dcterms:modified xsi:type="dcterms:W3CDTF">2011-08-01T06:04:30Z</dcterms:modified>
  <cp:revision>1</cp:revision>
  <dc:title>Alto</dc:title>
</cp:coreProperties>
</file>