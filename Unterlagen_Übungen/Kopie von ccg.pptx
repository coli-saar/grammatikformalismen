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x="18288000" cy="10287000"/>
  <p:notesSz cx="6858000" cy="9144000"/>
  <p:embeddedFontLst>
    <p:embeddedFont>
      <p:font typeface="Canva Sans" charset="1" panose="020B0503030501040103"/>
      <p:regular r:id="rId49"/>
    </p:embeddedFont>
    <p:embeddedFont>
      <p:font typeface="Canva Sans Bold" charset="1" panose="020B0803030501040103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448311"/>
            <a:ext cx="11301259" cy="3390378"/>
          </a:xfrm>
          <a:custGeom>
            <a:avLst/>
            <a:gdLst/>
            <a:ahLst/>
            <a:cxnLst/>
            <a:rect r="r" b="b" t="t" l="l"/>
            <a:pathLst>
              <a:path h="3390378" w="11301259">
                <a:moveTo>
                  <a:pt x="0" y="0"/>
                </a:moveTo>
                <a:lnTo>
                  <a:pt x="11301258" y="0"/>
                </a:lnTo>
                <a:lnTo>
                  <a:pt x="11301258" y="3390378"/>
                </a:lnTo>
                <a:lnTo>
                  <a:pt x="0" y="3390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27550" y="1786876"/>
            <a:ext cx="13832900" cy="641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623"/>
              </a:lnSpc>
            </a:pPr>
            <a:r>
              <a:rPr lang="en-US" sz="46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Peter</a:t>
            </a:r>
          </a:p>
          <a:p>
            <a:pPr algn="just">
              <a:lnSpc>
                <a:spcPts val="8623"/>
              </a:lnSpc>
            </a:pPr>
            <a:r>
              <a:rPr lang="en-US" sz="46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dog</a:t>
            </a:r>
          </a:p>
          <a:p>
            <a:pPr algn="just">
              <a:lnSpc>
                <a:spcPts val="8623"/>
              </a:lnSpc>
            </a:pPr>
            <a:r>
              <a:rPr lang="en-US" sz="46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</a:p>
          <a:p>
            <a:pPr algn="just">
              <a:lnSpc>
                <a:spcPts val="8623"/>
              </a:lnSpc>
            </a:pPr>
            <a:r>
              <a:rPr lang="en-US" sz="46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sleeps</a:t>
            </a:r>
          </a:p>
          <a:p>
            <a:pPr algn="just">
              <a:lnSpc>
                <a:spcPts val="8623"/>
              </a:lnSpc>
            </a:pPr>
            <a:r>
              <a:rPr lang="en-US" sz="46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sees, pets</a:t>
            </a:r>
          </a:p>
          <a:p>
            <a:pPr algn="just">
              <a:lnSpc>
                <a:spcPts val="8623"/>
              </a:lnSpc>
            </a:pPr>
            <a:r>
              <a:rPr lang="en-US" sz="46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often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84408" y="91949"/>
            <a:ext cx="6253120" cy="830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2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based on examples from slides by Vera Demberg for</a:t>
            </a:r>
          </a:p>
          <a:p>
            <a:pPr algn="ctr">
              <a:lnSpc>
                <a:spcPts val="3452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Incremental Syntax and Semantics Seminar WS 2012/13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27550" y="1786876"/>
            <a:ext cx="13832900" cy="641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623"/>
              </a:lnSpc>
            </a:pPr>
            <a:r>
              <a:rPr lang="en-US" sz="46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Peter</a:t>
            </a:r>
          </a:p>
          <a:p>
            <a:pPr algn="just">
              <a:lnSpc>
                <a:spcPts val="8623"/>
              </a:lnSpc>
            </a:pPr>
            <a:r>
              <a:rPr lang="en-US" sz="46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dog</a:t>
            </a:r>
          </a:p>
          <a:p>
            <a:pPr algn="just">
              <a:lnSpc>
                <a:spcPts val="8623"/>
              </a:lnSpc>
            </a:pPr>
            <a:r>
              <a:rPr lang="en-US" sz="46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</a:p>
          <a:p>
            <a:pPr algn="just">
              <a:lnSpc>
                <a:spcPts val="8623"/>
              </a:lnSpc>
            </a:pPr>
            <a:r>
              <a:rPr lang="en-US" sz="46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sleeps</a:t>
            </a:r>
          </a:p>
          <a:p>
            <a:pPr algn="just">
              <a:lnSpc>
                <a:spcPts val="8623"/>
              </a:lnSpc>
            </a:pPr>
            <a:r>
              <a:rPr lang="en-US" sz="46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sees, pets</a:t>
            </a:r>
          </a:p>
          <a:p>
            <a:pPr algn="just">
              <a:lnSpc>
                <a:spcPts val="8623"/>
              </a:lnSpc>
            </a:pPr>
            <a:r>
              <a:rPr lang="en-US" sz="46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often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0" y="742950"/>
            <a:ext cx="5084728" cy="200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09"/>
              </a:lnSpc>
              <a:spcBef>
                <a:spcPct val="0"/>
              </a:spcBef>
            </a:pPr>
            <a:r>
              <a:rPr lang="en-US" sz="44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dog sleeps </a:t>
            </a:r>
            <a:r>
              <a:rPr lang="en-US" sz="44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4857750"/>
            <a:ext cx="6150853" cy="200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09"/>
              </a:lnSpc>
              <a:spcBef>
                <a:spcPct val="0"/>
              </a:spcBef>
            </a:pPr>
            <a:r>
              <a:rPr lang="en-US" sz="44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Peter sees a dog </a:t>
            </a:r>
            <a:r>
              <a:rPr lang="en-US" sz="44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93719" y="1752827"/>
            <a:ext cx="9100562" cy="156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9"/>
              </a:lnSpc>
              <a:spcBef>
                <a:spcPct val="0"/>
              </a:spcBef>
            </a:pPr>
            <a:r>
              <a:rPr lang="en-US" sz="4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sleepy dog sleeps often </a:t>
            </a:r>
            <a:r>
              <a:rPr lang="en-US" sz="44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98448" y="2290237"/>
            <a:ext cx="9491105" cy="5706527"/>
          </a:xfrm>
          <a:custGeom>
            <a:avLst/>
            <a:gdLst/>
            <a:ahLst/>
            <a:cxnLst/>
            <a:rect r="r" b="b" t="t" l="l"/>
            <a:pathLst>
              <a:path h="5706527" w="9491105">
                <a:moveTo>
                  <a:pt x="0" y="0"/>
                </a:moveTo>
                <a:lnTo>
                  <a:pt x="9491104" y="0"/>
                </a:lnTo>
                <a:lnTo>
                  <a:pt x="9491104" y="5706526"/>
                </a:lnTo>
                <a:lnTo>
                  <a:pt x="0" y="5706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89974" y="1752827"/>
            <a:ext cx="11108051" cy="156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9"/>
              </a:lnSpc>
              <a:spcBef>
                <a:spcPct val="0"/>
              </a:spcBef>
            </a:pPr>
            <a:r>
              <a:rPr lang="en-US" sz="4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Peter often sees a sleepy dog </a:t>
            </a:r>
            <a:r>
              <a:rPr lang="en-US" sz="44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967002" y="2479478"/>
            <a:ext cx="599238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35413" y="2479478"/>
            <a:ext cx="2061844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(S\NP)/NP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44853" y="2479478"/>
            <a:ext cx="2761281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(S\NP)\(S\NP)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26536" y="2479478"/>
            <a:ext cx="106031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46576" y="2479478"/>
            <a:ext cx="80999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N/N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23110" y="2479478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15946" y="264153"/>
            <a:ext cx="5654664" cy="1142167"/>
          </a:xfrm>
          <a:custGeom>
            <a:avLst/>
            <a:gdLst/>
            <a:ahLst/>
            <a:cxnLst/>
            <a:rect r="r" b="b" t="t" l="l"/>
            <a:pathLst>
              <a:path h="1142167" w="5654664">
                <a:moveTo>
                  <a:pt x="0" y="0"/>
                </a:moveTo>
                <a:lnTo>
                  <a:pt x="5654664" y="0"/>
                </a:lnTo>
                <a:lnTo>
                  <a:pt x="5654664" y="1142167"/>
                </a:lnTo>
                <a:lnTo>
                  <a:pt x="0" y="1142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668149" y="264153"/>
            <a:ext cx="5891322" cy="1068524"/>
          </a:xfrm>
          <a:custGeom>
            <a:avLst/>
            <a:gdLst/>
            <a:ahLst/>
            <a:cxnLst/>
            <a:rect r="r" b="b" t="t" l="l"/>
            <a:pathLst>
              <a:path h="1068524" w="5891322">
                <a:moveTo>
                  <a:pt x="0" y="0"/>
                </a:moveTo>
                <a:lnTo>
                  <a:pt x="5891322" y="0"/>
                </a:lnTo>
                <a:lnTo>
                  <a:pt x="5891322" y="1068524"/>
                </a:lnTo>
                <a:lnTo>
                  <a:pt x="0" y="10685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5946" y="264153"/>
            <a:ext cx="5654664" cy="1142167"/>
          </a:xfrm>
          <a:custGeom>
            <a:avLst/>
            <a:gdLst/>
            <a:ahLst/>
            <a:cxnLst/>
            <a:rect r="r" b="b" t="t" l="l"/>
            <a:pathLst>
              <a:path h="1142167" w="5654664">
                <a:moveTo>
                  <a:pt x="0" y="0"/>
                </a:moveTo>
                <a:lnTo>
                  <a:pt x="5654664" y="0"/>
                </a:lnTo>
                <a:lnTo>
                  <a:pt x="5654664" y="1142167"/>
                </a:lnTo>
                <a:lnTo>
                  <a:pt x="0" y="1142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68149" y="264153"/>
            <a:ext cx="5891322" cy="1068524"/>
          </a:xfrm>
          <a:custGeom>
            <a:avLst/>
            <a:gdLst/>
            <a:ahLst/>
            <a:cxnLst/>
            <a:rect r="r" b="b" t="t" l="l"/>
            <a:pathLst>
              <a:path h="1068524" w="5891322">
                <a:moveTo>
                  <a:pt x="0" y="0"/>
                </a:moveTo>
                <a:lnTo>
                  <a:pt x="5891322" y="0"/>
                </a:lnTo>
                <a:lnTo>
                  <a:pt x="5891322" y="1068524"/>
                </a:lnTo>
                <a:lnTo>
                  <a:pt x="0" y="10685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89974" y="2025029"/>
            <a:ext cx="9463498" cy="155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9"/>
              </a:lnSpc>
              <a:spcBef>
                <a:spcPct val="0"/>
              </a:spcBef>
            </a:pPr>
            <a:r>
              <a:rPr lang="en-US" sz="4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Peter might pet a dog </a:t>
            </a:r>
            <a:r>
              <a:rPr lang="en-US" sz="44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06988" y="2856569"/>
            <a:ext cx="599238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13078" y="2785705"/>
            <a:ext cx="2061844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(S\NP)/NP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35685" y="2785705"/>
            <a:ext cx="106031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8149" y="2856569"/>
            <a:ext cx="4762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77328" y="2785705"/>
            <a:ext cx="469572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741485"/>
            <a:ext cx="15863724" cy="155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9"/>
              </a:lnSpc>
              <a:spcBef>
                <a:spcPct val="0"/>
              </a:spcBef>
            </a:pPr>
            <a:r>
              <a:rPr lang="en-US" sz="4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Peter might give the dog a treat </a:t>
            </a:r>
            <a:r>
              <a:rPr lang="en-US" sz="4478">
                <a:solidFill>
                  <a:srgbClr val="FDFEFE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................................................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4361" y="2468136"/>
            <a:ext cx="599238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81848" y="2468136"/>
            <a:ext cx="2799129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(S\NP)/NP/NP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24793" y="2468136"/>
            <a:ext cx="2761281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(S\NP)/(S\NP)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59493" y="2468136"/>
            <a:ext cx="106031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74676" y="2468136"/>
            <a:ext cx="106031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72490" y="2468136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14146" y="2468136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15946" y="264153"/>
            <a:ext cx="5654664" cy="1142167"/>
          </a:xfrm>
          <a:custGeom>
            <a:avLst/>
            <a:gdLst/>
            <a:ahLst/>
            <a:cxnLst/>
            <a:rect r="r" b="b" t="t" l="l"/>
            <a:pathLst>
              <a:path h="1142167" w="5654664">
                <a:moveTo>
                  <a:pt x="0" y="0"/>
                </a:moveTo>
                <a:lnTo>
                  <a:pt x="5654664" y="0"/>
                </a:lnTo>
                <a:lnTo>
                  <a:pt x="5654664" y="1142167"/>
                </a:lnTo>
                <a:lnTo>
                  <a:pt x="0" y="1142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668149" y="264153"/>
            <a:ext cx="5891322" cy="1068524"/>
          </a:xfrm>
          <a:custGeom>
            <a:avLst/>
            <a:gdLst/>
            <a:ahLst/>
            <a:cxnLst/>
            <a:rect r="r" b="b" t="t" l="l"/>
            <a:pathLst>
              <a:path h="1068524" w="5891322">
                <a:moveTo>
                  <a:pt x="0" y="0"/>
                </a:moveTo>
                <a:lnTo>
                  <a:pt x="5891322" y="0"/>
                </a:lnTo>
                <a:lnTo>
                  <a:pt x="5891322" y="1068524"/>
                </a:lnTo>
                <a:lnTo>
                  <a:pt x="0" y="10685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978058"/>
            <a:ext cx="11301259" cy="2330885"/>
          </a:xfrm>
          <a:custGeom>
            <a:avLst/>
            <a:gdLst/>
            <a:ahLst/>
            <a:cxnLst/>
            <a:rect r="r" b="b" t="t" l="l"/>
            <a:pathLst>
              <a:path h="2330885" w="11301259">
                <a:moveTo>
                  <a:pt x="0" y="0"/>
                </a:moveTo>
                <a:lnTo>
                  <a:pt x="11301258" y="0"/>
                </a:lnTo>
                <a:lnTo>
                  <a:pt x="11301258" y="2330884"/>
                </a:lnTo>
                <a:lnTo>
                  <a:pt x="0" y="2330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741485"/>
            <a:ext cx="15863724" cy="155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9"/>
              </a:lnSpc>
              <a:spcBef>
                <a:spcPct val="0"/>
              </a:spcBef>
            </a:pPr>
            <a:r>
              <a:rPr lang="en-US" sz="4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Peter might give the dog a treat </a:t>
            </a:r>
            <a:r>
              <a:rPr lang="en-US" sz="4478">
                <a:solidFill>
                  <a:srgbClr val="FDFEFE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................................................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4361" y="2468136"/>
            <a:ext cx="599238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81848" y="2468136"/>
            <a:ext cx="2799129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(S\NP)/NP/NP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24793" y="2468136"/>
            <a:ext cx="2761281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(S\NP)/(S\NP)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59493" y="2468136"/>
            <a:ext cx="106031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99838" y="2468136"/>
            <a:ext cx="80999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N/N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72490" y="2468136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14146" y="2468136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23536" y="349697"/>
            <a:ext cx="5628043" cy="1160784"/>
          </a:xfrm>
          <a:custGeom>
            <a:avLst/>
            <a:gdLst/>
            <a:ahLst/>
            <a:cxnLst/>
            <a:rect r="r" b="b" t="t" l="l"/>
            <a:pathLst>
              <a:path h="1160784" w="5628043">
                <a:moveTo>
                  <a:pt x="0" y="0"/>
                </a:moveTo>
                <a:lnTo>
                  <a:pt x="5628043" y="0"/>
                </a:lnTo>
                <a:lnTo>
                  <a:pt x="5628043" y="1160784"/>
                </a:lnTo>
                <a:lnTo>
                  <a:pt x="0" y="1160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1888" y="1087060"/>
            <a:ext cx="14878005" cy="1725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21"/>
              </a:lnSpc>
              <a:spcBef>
                <a:spcPct val="0"/>
              </a:spcBef>
            </a:pPr>
            <a:r>
              <a:rPr lang="en-US" sz="49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 mer em hans es huus hälfed aastriiche </a:t>
            </a:r>
            <a:r>
              <a:rPr lang="en-US" sz="49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666210" y="1921482"/>
            <a:ext cx="709280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25778" y="1921482"/>
            <a:ext cx="709280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81695" y="1940532"/>
            <a:ext cx="2947414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S\NP\NP/VP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76610" y="1921482"/>
            <a:ext cx="709280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36627" y="1921482"/>
            <a:ext cx="1565346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VP\NP</a:t>
            </a:r>
          </a:p>
        </p:txBody>
      </p:sp>
      <p:sp>
        <p:nvSpPr>
          <p:cNvPr name="AutoShape 8" id="8"/>
          <p:cNvSpPr/>
          <p:nvPr/>
        </p:nvSpPr>
        <p:spPr>
          <a:xfrm>
            <a:off x="2899377" y="1978632"/>
            <a:ext cx="126374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4616673" y="1978632"/>
            <a:ext cx="28063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0756435" y="2016732"/>
            <a:ext cx="23979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998498" y="1978632"/>
            <a:ext cx="218242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3429109" y="1997682"/>
            <a:ext cx="295386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4114243" y="125974"/>
            <a:ext cx="3117396" cy="39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2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 from lecture slides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1888" y="1087060"/>
            <a:ext cx="14878005" cy="1725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21"/>
              </a:lnSpc>
              <a:spcBef>
                <a:spcPct val="0"/>
              </a:spcBef>
            </a:pPr>
            <a:r>
              <a:rPr lang="en-US" sz="49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 mer em hans es huus hälfed aastriiche </a:t>
            </a:r>
            <a:r>
              <a:rPr lang="en-US" sz="49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666210" y="1921482"/>
            <a:ext cx="709280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25778" y="1921482"/>
            <a:ext cx="709280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81695" y="1940532"/>
            <a:ext cx="2947414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S\NP\NP/VP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76610" y="1921482"/>
            <a:ext cx="709280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36627" y="1921482"/>
            <a:ext cx="1565346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VP\NP</a:t>
            </a:r>
          </a:p>
        </p:txBody>
      </p:sp>
      <p:sp>
        <p:nvSpPr>
          <p:cNvPr name="AutoShape 8" id="8"/>
          <p:cNvSpPr/>
          <p:nvPr/>
        </p:nvSpPr>
        <p:spPr>
          <a:xfrm>
            <a:off x="2899377" y="1978632"/>
            <a:ext cx="126374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4616673" y="1978632"/>
            <a:ext cx="28063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0756435" y="2016732"/>
            <a:ext cx="23979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998498" y="1978632"/>
            <a:ext cx="218242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3429109" y="1997682"/>
            <a:ext cx="295386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3078127" y="2552195"/>
            <a:ext cx="906245" cy="38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2"/>
              </a:lnSpc>
              <a:spcBef>
                <a:spcPct val="0"/>
              </a:spcBef>
            </a:pPr>
            <a:r>
              <a:rPr lang="en-US" sz="22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&lt;nom&gt;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04997" y="2596747"/>
            <a:ext cx="750843" cy="38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2"/>
              </a:lnSpc>
              <a:spcBef>
                <a:spcPct val="0"/>
              </a:spcBef>
            </a:pPr>
            <a:r>
              <a:rPr lang="en-US" sz="22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&lt;dat&gt;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36503" y="2596747"/>
            <a:ext cx="768694" cy="38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2"/>
              </a:lnSpc>
              <a:spcBef>
                <a:spcPct val="0"/>
              </a:spcBef>
            </a:pPr>
            <a:r>
              <a:rPr lang="en-US" sz="22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&lt;acc&gt;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12247" y="2596747"/>
            <a:ext cx="906245" cy="38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2"/>
              </a:lnSpc>
              <a:spcBef>
                <a:spcPct val="0"/>
              </a:spcBef>
            </a:pPr>
            <a:r>
              <a:rPr lang="en-US" sz="22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&lt;nom&gt;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96193" y="2596747"/>
            <a:ext cx="750843" cy="38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2"/>
              </a:lnSpc>
              <a:spcBef>
                <a:spcPct val="0"/>
              </a:spcBef>
            </a:pPr>
            <a:r>
              <a:rPr lang="en-US" sz="22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&lt;dat&gt;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031409" y="2552195"/>
            <a:ext cx="768694" cy="384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2"/>
              </a:lnSpc>
              <a:spcBef>
                <a:spcPct val="0"/>
              </a:spcBef>
            </a:pPr>
            <a:r>
              <a:rPr lang="en-US" sz="22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&lt;acc&gt;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16418" y="106924"/>
            <a:ext cx="5710396" cy="429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4"/>
              </a:lnSpc>
              <a:spcBef>
                <a:spcPct val="0"/>
              </a:spcBef>
            </a:pPr>
            <a:r>
              <a:rPr lang="en-US" sz="20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 from </a:t>
            </a:r>
            <a:r>
              <a:rPr lang="en-US" sz="2002" strike="sng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last year's</a:t>
            </a:r>
            <a:r>
              <a:rPr lang="en-US" sz="20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two years ago tutorial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40366"/>
            <a:ext cx="16280953" cy="169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81"/>
              </a:lnSpc>
              <a:spcBef>
                <a:spcPct val="0"/>
              </a:spcBef>
            </a:pPr>
            <a:r>
              <a:rPr lang="en-US" sz="37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Der Hund balanzierte gekonnt den bunten Ball </a:t>
            </a:r>
            <a:r>
              <a:rPr lang="en-US" sz="373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,,,,,,,,,,,,,,,,,,,,,,,,,,,,,,,,,,,,,,,,,,,,,,,,,,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47214" y="3187623"/>
            <a:ext cx="683217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S\S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73550" y="3187623"/>
            <a:ext cx="2061844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(S\NP)/NP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07345" y="3187623"/>
            <a:ext cx="106031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21559" y="3187623"/>
            <a:ext cx="80999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N/N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840673" y="3187623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89804" y="3187623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8677" y="3187623"/>
            <a:ext cx="106031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4221559" y="407505"/>
            <a:ext cx="88545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67026" y="831472"/>
            <a:ext cx="13861192" cy="2116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28"/>
              </a:lnSpc>
              <a:spcBef>
                <a:spcPct val="0"/>
              </a:spcBef>
            </a:pPr>
            <a:r>
              <a:rPr lang="en-US" sz="46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friend that he adores </a:t>
            </a:r>
            <a:r>
              <a:rPr lang="en-US" sz="466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,,,,,,,,,,,,,,,,,,,,,,,,,,,,,,,,,,,,,,,,,,,,,,,,,,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166374" y="1822879"/>
            <a:ext cx="2061844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(S\NP)/NP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795567" y="1822879"/>
            <a:ext cx="599238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23393" y="1822879"/>
            <a:ext cx="2548459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(N\N)/(S/NP)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63280" y="1822879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78105" y="1822879"/>
            <a:ext cx="106031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730843"/>
            <a:ext cx="11301259" cy="2825315"/>
          </a:xfrm>
          <a:custGeom>
            <a:avLst/>
            <a:gdLst/>
            <a:ahLst/>
            <a:cxnLst/>
            <a:rect r="r" b="b" t="t" l="l"/>
            <a:pathLst>
              <a:path h="2825315" w="11301259">
                <a:moveTo>
                  <a:pt x="0" y="0"/>
                </a:moveTo>
                <a:lnTo>
                  <a:pt x="11301258" y="0"/>
                </a:lnTo>
                <a:lnTo>
                  <a:pt x="11301258" y="2825314"/>
                </a:lnTo>
                <a:lnTo>
                  <a:pt x="0" y="282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78220" y="1637415"/>
            <a:ext cx="13861192" cy="2116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28"/>
              </a:lnSpc>
              <a:spcBef>
                <a:spcPct val="0"/>
              </a:spcBef>
            </a:pPr>
            <a:r>
              <a:rPr lang="en-US" sz="46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friend that he adores </a:t>
            </a:r>
            <a:r>
              <a:rPr lang="en-US" sz="466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,,,,,,,,,,,,,,,,,,,,,,,,,,,,,,,,,,,,,,,,,,,,,,,,,,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177568" y="2628822"/>
            <a:ext cx="2061844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(S\NP)/NP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806760" y="2628822"/>
            <a:ext cx="599238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34586" y="2628822"/>
            <a:ext cx="2548459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(N\N)/(S/NP)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74474" y="2628822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89299" y="2628822"/>
            <a:ext cx="106031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26844" y="288320"/>
            <a:ext cx="5923039" cy="1480760"/>
          </a:xfrm>
          <a:custGeom>
            <a:avLst/>
            <a:gdLst/>
            <a:ahLst/>
            <a:cxnLst/>
            <a:rect r="r" b="b" t="t" l="l"/>
            <a:pathLst>
              <a:path h="1480760" w="5923039">
                <a:moveTo>
                  <a:pt x="0" y="0"/>
                </a:moveTo>
                <a:lnTo>
                  <a:pt x="5923039" y="0"/>
                </a:lnTo>
                <a:lnTo>
                  <a:pt x="5923039" y="1480760"/>
                </a:lnTo>
                <a:lnTo>
                  <a:pt x="0" y="1480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17358" y="5903907"/>
            <a:ext cx="10249559" cy="155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9"/>
              </a:lnSpc>
              <a:spcBef>
                <a:spcPct val="0"/>
              </a:spcBef>
            </a:pPr>
            <a:r>
              <a:rPr lang="en-US" sz="4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nice in Edinburgh pub  </a:t>
            </a:r>
            <a:r>
              <a:rPr lang="en-US" sz="4478">
                <a:solidFill>
                  <a:srgbClr val="FDFEFE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................................................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17358" y="1304114"/>
            <a:ext cx="9398928" cy="155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9"/>
              </a:lnSpc>
              <a:spcBef>
                <a:spcPct val="0"/>
              </a:spcBef>
            </a:pPr>
            <a:r>
              <a:rPr lang="en-US" sz="4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nice pub in Edinburgh </a:t>
            </a:r>
            <a:r>
              <a:rPr lang="en-US" sz="4478">
                <a:solidFill>
                  <a:srgbClr val="FDFEFE"/>
                </a:solidFill>
                <a:latin typeface="Canva Sans"/>
                <a:ea typeface="Canva Sans"/>
                <a:cs typeface="Canva Sans"/>
                <a:sym typeface="Canva Sans"/>
              </a:rPr>
              <a:t>  ...............................................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03687" y="2135654"/>
            <a:ext cx="288897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(N  \   N)  /   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16871" y="2008081"/>
            <a:ext cx="599238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0356" y="2135654"/>
            <a:ext cx="1329966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  /   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56448" y="2135654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7659" y="6572421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0356" y="6661418"/>
            <a:ext cx="1329966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  /   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47824" y="6572421"/>
            <a:ext cx="288897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(N  \   N)  /   NP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17632" y="6572421"/>
            <a:ext cx="599238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14243" y="125974"/>
            <a:ext cx="3117396" cy="39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2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 from lecture slides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413023"/>
            <a:ext cx="16617952" cy="7768893"/>
          </a:xfrm>
          <a:custGeom>
            <a:avLst/>
            <a:gdLst/>
            <a:ahLst/>
            <a:cxnLst/>
            <a:rect r="r" b="b" t="t" l="l"/>
            <a:pathLst>
              <a:path h="7768893" w="16617952">
                <a:moveTo>
                  <a:pt x="0" y="0"/>
                </a:moveTo>
                <a:lnTo>
                  <a:pt x="16617952" y="0"/>
                </a:lnTo>
                <a:lnTo>
                  <a:pt x="16617952" y="7768893"/>
                </a:lnTo>
                <a:lnTo>
                  <a:pt x="0" y="7768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17358" y="5903907"/>
            <a:ext cx="10249559" cy="155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9"/>
              </a:lnSpc>
              <a:spcBef>
                <a:spcPct val="0"/>
              </a:spcBef>
            </a:pPr>
            <a:r>
              <a:rPr lang="en-US" sz="4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nice in Edinburgh pub  </a:t>
            </a:r>
            <a:r>
              <a:rPr lang="en-US" sz="4478">
                <a:solidFill>
                  <a:srgbClr val="FDFEFE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................................................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17358" y="1304114"/>
            <a:ext cx="9398928" cy="155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9"/>
              </a:lnSpc>
              <a:spcBef>
                <a:spcPct val="0"/>
              </a:spcBef>
            </a:pPr>
            <a:r>
              <a:rPr lang="en-US" sz="4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nice pub in Edinburgh </a:t>
            </a:r>
            <a:r>
              <a:rPr lang="en-US" sz="4478">
                <a:solidFill>
                  <a:srgbClr val="FDFEFE"/>
                </a:solidFill>
                <a:latin typeface="Canva Sans"/>
                <a:ea typeface="Canva Sans"/>
                <a:cs typeface="Canva Sans"/>
                <a:sym typeface="Canva Sans"/>
              </a:rPr>
              <a:t>  ...............................................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03687" y="2135654"/>
            <a:ext cx="288897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(N  \   N)  /   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16871" y="2008081"/>
            <a:ext cx="599238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0356" y="2135654"/>
            <a:ext cx="1329966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  /   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56448" y="2135654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7659" y="6572421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0356" y="6661418"/>
            <a:ext cx="1329966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  /   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47824" y="6572421"/>
            <a:ext cx="288897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(N  \   N)  /   NP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17632" y="6572421"/>
            <a:ext cx="599238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114243" y="125974"/>
            <a:ext cx="3117396" cy="39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2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 from lecture slides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94184"/>
            <a:ext cx="11100981" cy="623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4"/>
              </a:lnSpc>
              <a:spcBef>
                <a:spcPct val="0"/>
              </a:spcBef>
            </a:pPr>
            <a:r>
              <a:rPr lang="en-US" sz="268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welch</a:t>
            </a:r>
            <a:r>
              <a:rPr lang="en-US" sz="268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Kombinationsregeln (de)aktiviert sind: </a:t>
            </a:r>
          </a:p>
          <a:p>
            <a:pPr algn="l">
              <a:lnSpc>
                <a:spcPts val="5014"/>
              </a:lnSpc>
              <a:spcBef>
                <a:spcPct val="0"/>
              </a:spcBef>
            </a:pPr>
            <a:r>
              <a:rPr lang="en-US" b="true" sz="268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rule { ... } </a:t>
            </a:r>
          </a:p>
          <a:p>
            <a:pPr algn="l">
              <a:lnSpc>
                <a:spcPts val="5014"/>
              </a:lnSpc>
              <a:spcBef>
                <a:spcPct val="0"/>
              </a:spcBef>
            </a:pPr>
            <a:r>
              <a:rPr lang="en-US" sz="268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Featuredeklarationen:</a:t>
            </a:r>
          </a:p>
          <a:p>
            <a:pPr algn="l">
              <a:lnSpc>
                <a:spcPts val="5014"/>
              </a:lnSpc>
              <a:spcBef>
                <a:spcPct val="0"/>
              </a:spcBef>
            </a:pPr>
            <a:r>
              <a:rPr lang="en-US" b="true" sz="268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 { ... }  </a:t>
            </a:r>
          </a:p>
          <a:p>
            <a:pPr algn="l">
              <a:lnSpc>
                <a:spcPts val="5014"/>
              </a:lnSpc>
              <a:spcBef>
                <a:spcPct val="0"/>
              </a:spcBef>
            </a:pPr>
            <a:r>
              <a:rPr lang="en-US" sz="268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eine "Schablone" für Lexikoneinträge</a:t>
            </a:r>
          </a:p>
          <a:p>
            <a:pPr algn="l">
              <a:lnSpc>
                <a:spcPts val="5014"/>
              </a:lnSpc>
              <a:spcBef>
                <a:spcPct val="0"/>
              </a:spcBef>
            </a:pPr>
            <a:r>
              <a:rPr lang="en-US" b="true" sz="268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family Name { ... }  </a:t>
            </a:r>
          </a:p>
          <a:p>
            <a:pPr algn="l">
              <a:lnSpc>
                <a:spcPts val="5014"/>
              </a:lnSpc>
              <a:spcBef>
                <a:spcPct val="0"/>
              </a:spcBef>
            </a:pPr>
            <a:r>
              <a:rPr lang="en-US" sz="268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ein einzelner Lexikoneintrag</a:t>
            </a:r>
          </a:p>
          <a:p>
            <a:pPr algn="l">
              <a:lnSpc>
                <a:spcPts val="5014"/>
              </a:lnSpc>
              <a:spcBef>
                <a:spcPct val="0"/>
              </a:spcBef>
            </a:pPr>
            <a:r>
              <a:rPr lang="en-US" b="true" sz="268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word lemma: Family: features;  </a:t>
            </a:r>
          </a:p>
          <a:p>
            <a:pPr algn="l">
              <a:lnSpc>
                <a:spcPts val="5014"/>
              </a:lnSpc>
              <a:spcBef>
                <a:spcPct val="0"/>
              </a:spcBef>
            </a:pPr>
            <a:r>
              <a:rPr lang="en-US" sz="268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mehrere Wortformen unter einem Lemma</a:t>
            </a:r>
          </a:p>
          <a:p>
            <a:pPr algn="l">
              <a:lnSpc>
                <a:spcPts val="5014"/>
              </a:lnSpc>
              <a:spcBef>
                <a:spcPct val="0"/>
              </a:spcBef>
            </a:pPr>
            <a:r>
              <a:rPr lang="en-US" b="true" sz="268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word lemma: Family { ... } 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695325"/>
            <a:ext cx="3052128" cy="10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28"/>
              </a:lnSpc>
              <a:spcBef>
                <a:spcPct val="0"/>
              </a:spcBef>
            </a:pPr>
            <a:r>
              <a:rPr lang="en-US" b="true" sz="50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OpenCCG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44776"/>
            <a:ext cx="12806510" cy="72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Eine OpenCCG-Grammatik besteht aus: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344776"/>
            <a:ext cx="8038015" cy="7049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OpenCCG-Wiki "Writing a grammar from scratch"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sehr gute Referenz</a:t>
            </a:r>
          </a:p>
          <a:p>
            <a:pPr algn="l">
              <a:lnSpc>
                <a:spcPts val="6249"/>
              </a:lnSpc>
            </a:pP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Wichtig: rule, feature, family, word</a:t>
            </a:r>
          </a:p>
          <a:p>
            <a:pPr algn="l">
              <a:lnSpc>
                <a:spcPts val="6249"/>
              </a:lnSpc>
            </a:pPr>
          </a:p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Für die Übung </a:t>
            </a:r>
            <a:r>
              <a:rPr lang="en-US" b="true" sz="33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NICHT</a:t>
            </a: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wichtig: VisCCG, Semantik (logische Formen), und Expansions(def name....)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200847" y="2360585"/>
            <a:ext cx="9895562" cy="4465372"/>
          </a:xfrm>
          <a:custGeom>
            <a:avLst/>
            <a:gdLst/>
            <a:ahLst/>
            <a:cxnLst/>
            <a:rect r="r" b="b" t="t" l="l"/>
            <a:pathLst>
              <a:path h="4465372" w="9895562">
                <a:moveTo>
                  <a:pt x="0" y="0"/>
                </a:moveTo>
                <a:lnTo>
                  <a:pt x="9895562" y="0"/>
                </a:lnTo>
                <a:lnTo>
                  <a:pt x="9895562" y="4465372"/>
                </a:lnTo>
                <a:lnTo>
                  <a:pt x="0" y="4465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95325"/>
            <a:ext cx="3052128" cy="10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28"/>
              </a:lnSpc>
              <a:spcBef>
                <a:spcPct val="0"/>
              </a:spcBef>
            </a:pPr>
            <a:r>
              <a:rPr lang="en-US" b="true" sz="50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OpenCCG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494318" y="4386262"/>
            <a:ext cx="2570798" cy="700088"/>
            <a:chOff x="0" y="0"/>
            <a:chExt cx="3427730" cy="9334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7802" y="41694"/>
              <a:ext cx="3328136" cy="853279"/>
            </a:xfrm>
            <a:custGeom>
              <a:avLst/>
              <a:gdLst/>
              <a:ahLst/>
              <a:cxnLst/>
              <a:rect r="r" b="b" t="t" l="l"/>
              <a:pathLst>
                <a:path h="853279" w="3328136">
                  <a:moveTo>
                    <a:pt x="1064718" y="75146"/>
                  </a:moveTo>
                  <a:cubicBezTo>
                    <a:pt x="898348" y="108166"/>
                    <a:pt x="870408" y="99276"/>
                    <a:pt x="824688" y="108166"/>
                  </a:cubicBezTo>
                  <a:cubicBezTo>
                    <a:pt x="748488" y="123406"/>
                    <a:pt x="621488" y="172936"/>
                    <a:pt x="528778" y="214846"/>
                  </a:cubicBezTo>
                  <a:cubicBezTo>
                    <a:pt x="439878" y="254216"/>
                    <a:pt x="310338" y="322796"/>
                    <a:pt x="276048" y="352006"/>
                  </a:cubicBezTo>
                  <a:cubicBezTo>
                    <a:pt x="265888" y="360896"/>
                    <a:pt x="262078" y="360896"/>
                    <a:pt x="259538" y="373596"/>
                  </a:cubicBezTo>
                  <a:cubicBezTo>
                    <a:pt x="253188" y="402806"/>
                    <a:pt x="282398" y="499326"/>
                    <a:pt x="300178" y="543776"/>
                  </a:cubicBezTo>
                  <a:cubicBezTo>
                    <a:pt x="314148" y="576796"/>
                    <a:pt x="328118" y="598386"/>
                    <a:pt x="350978" y="622516"/>
                  </a:cubicBezTo>
                  <a:cubicBezTo>
                    <a:pt x="376378" y="650456"/>
                    <a:pt x="413208" y="675856"/>
                    <a:pt x="450038" y="698716"/>
                  </a:cubicBezTo>
                  <a:cubicBezTo>
                    <a:pt x="490678" y="722846"/>
                    <a:pt x="541478" y="748246"/>
                    <a:pt x="588468" y="763486"/>
                  </a:cubicBezTo>
                  <a:cubicBezTo>
                    <a:pt x="631648" y="777456"/>
                    <a:pt x="667208" y="783806"/>
                    <a:pt x="719278" y="791426"/>
                  </a:cubicBezTo>
                  <a:cubicBezTo>
                    <a:pt x="799288" y="801586"/>
                    <a:pt x="881838" y="804126"/>
                    <a:pt x="1022808" y="807936"/>
                  </a:cubicBezTo>
                  <a:cubicBezTo>
                    <a:pt x="1351738" y="818096"/>
                    <a:pt x="2319478" y="837146"/>
                    <a:pt x="2668728" y="811746"/>
                  </a:cubicBezTo>
                  <a:cubicBezTo>
                    <a:pt x="2832558" y="800316"/>
                    <a:pt x="2955748" y="790156"/>
                    <a:pt x="3026868" y="757136"/>
                  </a:cubicBezTo>
                  <a:cubicBezTo>
                    <a:pt x="3063698" y="740626"/>
                    <a:pt x="3075128" y="726656"/>
                    <a:pt x="3100528" y="697446"/>
                  </a:cubicBezTo>
                  <a:cubicBezTo>
                    <a:pt x="3142438" y="647916"/>
                    <a:pt x="3209748" y="533616"/>
                    <a:pt x="3231338" y="467576"/>
                  </a:cubicBezTo>
                  <a:cubicBezTo>
                    <a:pt x="3246578" y="423126"/>
                    <a:pt x="3255468" y="383756"/>
                    <a:pt x="3245308" y="348196"/>
                  </a:cubicBezTo>
                  <a:cubicBezTo>
                    <a:pt x="3235148" y="311366"/>
                    <a:pt x="3204668" y="279616"/>
                    <a:pt x="3166568" y="250406"/>
                  </a:cubicBezTo>
                  <a:cubicBezTo>
                    <a:pt x="3113228" y="209766"/>
                    <a:pt x="3030678" y="174206"/>
                    <a:pt x="2936698" y="146266"/>
                  </a:cubicBezTo>
                  <a:cubicBezTo>
                    <a:pt x="2805888" y="106896"/>
                    <a:pt x="2558238" y="82766"/>
                    <a:pt x="2442668" y="70066"/>
                  </a:cubicBezTo>
                  <a:cubicBezTo>
                    <a:pt x="2381708" y="63716"/>
                    <a:pt x="2374088" y="64986"/>
                    <a:pt x="2301698" y="62446"/>
                  </a:cubicBezTo>
                  <a:cubicBezTo>
                    <a:pt x="2056588" y="53556"/>
                    <a:pt x="1057098" y="9106"/>
                    <a:pt x="697688" y="37046"/>
                  </a:cubicBezTo>
                  <a:cubicBezTo>
                    <a:pt x="512268" y="52286"/>
                    <a:pt x="357328" y="68796"/>
                    <a:pt x="281128" y="109436"/>
                  </a:cubicBezTo>
                  <a:cubicBezTo>
                    <a:pt x="244298" y="129756"/>
                    <a:pt x="236678" y="148806"/>
                    <a:pt x="215088" y="180556"/>
                  </a:cubicBezTo>
                  <a:cubicBezTo>
                    <a:pt x="182068" y="226276"/>
                    <a:pt x="145238" y="310096"/>
                    <a:pt x="117298" y="373596"/>
                  </a:cubicBezTo>
                  <a:cubicBezTo>
                    <a:pt x="91898" y="432016"/>
                    <a:pt x="66498" y="498056"/>
                    <a:pt x="53798" y="547586"/>
                  </a:cubicBezTo>
                  <a:cubicBezTo>
                    <a:pt x="43638" y="581876"/>
                    <a:pt x="27128" y="619976"/>
                    <a:pt x="37288" y="639026"/>
                  </a:cubicBezTo>
                  <a:cubicBezTo>
                    <a:pt x="44908" y="654266"/>
                    <a:pt x="63958" y="655536"/>
                    <a:pt x="89358" y="661886"/>
                  </a:cubicBezTo>
                  <a:cubicBezTo>
                    <a:pt x="157938" y="677126"/>
                    <a:pt x="307798" y="674586"/>
                    <a:pt x="465278" y="678396"/>
                  </a:cubicBezTo>
                  <a:cubicBezTo>
                    <a:pt x="733248" y="684746"/>
                    <a:pt x="1255218" y="689826"/>
                    <a:pt x="1554938" y="680936"/>
                  </a:cubicBezTo>
                  <a:cubicBezTo>
                    <a:pt x="1767028" y="674586"/>
                    <a:pt x="1902918" y="654266"/>
                    <a:pt x="2095958" y="647916"/>
                  </a:cubicBezTo>
                  <a:cubicBezTo>
                    <a:pt x="2316938" y="640296"/>
                    <a:pt x="2612848" y="649186"/>
                    <a:pt x="2805888" y="642836"/>
                  </a:cubicBezTo>
                  <a:cubicBezTo>
                    <a:pt x="2937968" y="639026"/>
                    <a:pt x="3084018" y="640296"/>
                    <a:pt x="3141168" y="625056"/>
                  </a:cubicBezTo>
                  <a:cubicBezTo>
                    <a:pt x="3162758" y="619976"/>
                    <a:pt x="3165298" y="609816"/>
                    <a:pt x="3183078" y="604736"/>
                  </a:cubicBezTo>
                  <a:cubicBezTo>
                    <a:pt x="3211018" y="597116"/>
                    <a:pt x="3278328" y="603466"/>
                    <a:pt x="3292298" y="589496"/>
                  </a:cubicBezTo>
                  <a:cubicBezTo>
                    <a:pt x="3299918" y="583146"/>
                    <a:pt x="3298648" y="574256"/>
                    <a:pt x="3297378" y="564096"/>
                  </a:cubicBezTo>
                  <a:cubicBezTo>
                    <a:pt x="3294838" y="546316"/>
                    <a:pt x="3283408" y="522186"/>
                    <a:pt x="3268168" y="495516"/>
                  </a:cubicBezTo>
                  <a:cubicBezTo>
                    <a:pt x="3245308" y="451066"/>
                    <a:pt x="3200858" y="381216"/>
                    <a:pt x="3161488" y="331686"/>
                  </a:cubicBezTo>
                  <a:cubicBezTo>
                    <a:pt x="3123388" y="283426"/>
                    <a:pt x="3076398" y="233896"/>
                    <a:pt x="3035758" y="198336"/>
                  </a:cubicBezTo>
                  <a:cubicBezTo>
                    <a:pt x="3002738" y="170396"/>
                    <a:pt x="2977338" y="148806"/>
                    <a:pt x="2940508" y="131026"/>
                  </a:cubicBezTo>
                  <a:cubicBezTo>
                    <a:pt x="2896058" y="109436"/>
                    <a:pt x="2841448" y="95466"/>
                    <a:pt x="2783028" y="86576"/>
                  </a:cubicBezTo>
                  <a:cubicBezTo>
                    <a:pt x="2710638" y="75146"/>
                    <a:pt x="2629358" y="75146"/>
                    <a:pt x="2537918" y="75146"/>
                  </a:cubicBezTo>
                  <a:cubicBezTo>
                    <a:pt x="2418538" y="75146"/>
                    <a:pt x="2315668" y="89116"/>
                    <a:pt x="2131518" y="92926"/>
                  </a:cubicBezTo>
                  <a:cubicBezTo>
                    <a:pt x="1740358" y="101816"/>
                    <a:pt x="391618" y="146266"/>
                    <a:pt x="293828" y="94196"/>
                  </a:cubicBezTo>
                  <a:cubicBezTo>
                    <a:pt x="282398" y="87846"/>
                    <a:pt x="278588" y="78956"/>
                    <a:pt x="281128" y="75146"/>
                  </a:cubicBezTo>
                  <a:cubicBezTo>
                    <a:pt x="282398" y="70066"/>
                    <a:pt x="300178" y="66256"/>
                    <a:pt x="303988" y="70066"/>
                  </a:cubicBezTo>
                  <a:cubicBezTo>
                    <a:pt x="306528" y="72606"/>
                    <a:pt x="303988" y="91656"/>
                    <a:pt x="300178" y="92926"/>
                  </a:cubicBezTo>
                  <a:cubicBezTo>
                    <a:pt x="296368" y="94196"/>
                    <a:pt x="279858" y="85306"/>
                    <a:pt x="279858" y="80226"/>
                  </a:cubicBezTo>
                  <a:cubicBezTo>
                    <a:pt x="278588" y="76416"/>
                    <a:pt x="283668" y="70066"/>
                    <a:pt x="293828" y="66256"/>
                  </a:cubicBezTo>
                  <a:cubicBezTo>
                    <a:pt x="392888" y="23076"/>
                    <a:pt x="1740358" y="72606"/>
                    <a:pt x="2131518" y="63716"/>
                  </a:cubicBezTo>
                  <a:cubicBezTo>
                    <a:pt x="2315668" y="59906"/>
                    <a:pt x="2417268" y="45936"/>
                    <a:pt x="2537918" y="45936"/>
                  </a:cubicBezTo>
                  <a:cubicBezTo>
                    <a:pt x="2633168" y="45936"/>
                    <a:pt x="2718258" y="44666"/>
                    <a:pt x="2793188" y="58636"/>
                  </a:cubicBezTo>
                  <a:cubicBezTo>
                    <a:pt x="2855418" y="68796"/>
                    <a:pt x="2912568" y="85306"/>
                    <a:pt x="2958288" y="109436"/>
                  </a:cubicBezTo>
                  <a:cubicBezTo>
                    <a:pt x="2997658" y="128486"/>
                    <a:pt x="3026868" y="153886"/>
                    <a:pt x="3057348" y="179286"/>
                  </a:cubicBezTo>
                  <a:cubicBezTo>
                    <a:pt x="3086558" y="204686"/>
                    <a:pt x="3108148" y="225006"/>
                    <a:pt x="3138628" y="259296"/>
                  </a:cubicBezTo>
                  <a:cubicBezTo>
                    <a:pt x="3184348" y="313906"/>
                    <a:pt x="3266898" y="425666"/>
                    <a:pt x="3297378" y="484086"/>
                  </a:cubicBezTo>
                  <a:cubicBezTo>
                    <a:pt x="3315158" y="517106"/>
                    <a:pt x="3330398" y="542506"/>
                    <a:pt x="3327858" y="566636"/>
                  </a:cubicBezTo>
                  <a:cubicBezTo>
                    <a:pt x="3326588" y="585686"/>
                    <a:pt x="3316428" y="606006"/>
                    <a:pt x="3299918" y="617436"/>
                  </a:cubicBezTo>
                  <a:cubicBezTo>
                    <a:pt x="3278328" y="632676"/>
                    <a:pt x="3223718" y="623786"/>
                    <a:pt x="3194508" y="631406"/>
                  </a:cubicBezTo>
                  <a:cubicBezTo>
                    <a:pt x="3174188" y="637756"/>
                    <a:pt x="3169108" y="647916"/>
                    <a:pt x="3142438" y="654266"/>
                  </a:cubicBezTo>
                  <a:cubicBezTo>
                    <a:pt x="3080208" y="669506"/>
                    <a:pt x="2939238" y="668236"/>
                    <a:pt x="2805888" y="672046"/>
                  </a:cubicBezTo>
                  <a:cubicBezTo>
                    <a:pt x="2612848" y="677126"/>
                    <a:pt x="2316938" y="668236"/>
                    <a:pt x="2097228" y="675856"/>
                  </a:cubicBezTo>
                  <a:cubicBezTo>
                    <a:pt x="1904188" y="682206"/>
                    <a:pt x="1773378" y="702526"/>
                    <a:pt x="1554938" y="708876"/>
                  </a:cubicBezTo>
                  <a:cubicBezTo>
                    <a:pt x="1226008" y="719036"/>
                    <a:pt x="566878" y="715226"/>
                    <a:pt x="315418" y="706336"/>
                  </a:cubicBezTo>
                  <a:cubicBezTo>
                    <a:pt x="204928" y="702526"/>
                    <a:pt x="133808" y="707606"/>
                    <a:pt x="77928" y="689826"/>
                  </a:cubicBezTo>
                  <a:cubicBezTo>
                    <a:pt x="43638" y="678396"/>
                    <a:pt x="13158" y="665696"/>
                    <a:pt x="2998" y="642836"/>
                  </a:cubicBezTo>
                  <a:cubicBezTo>
                    <a:pt x="-8432" y="617436"/>
                    <a:pt x="15698" y="575526"/>
                    <a:pt x="27128" y="536156"/>
                  </a:cubicBezTo>
                  <a:cubicBezTo>
                    <a:pt x="42368" y="484086"/>
                    <a:pt x="65228" y="419316"/>
                    <a:pt x="90628" y="359626"/>
                  </a:cubicBezTo>
                  <a:cubicBezTo>
                    <a:pt x="119838" y="294856"/>
                    <a:pt x="156668" y="208496"/>
                    <a:pt x="193498" y="158966"/>
                  </a:cubicBezTo>
                  <a:cubicBezTo>
                    <a:pt x="218898" y="124676"/>
                    <a:pt x="231598" y="103086"/>
                    <a:pt x="274778" y="82766"/>
                  </a:cubicBezTo>
                  <a:cubicBezTo>
                    <a:pt x="357328" y="40856"/>
                    <a:pt x="509728" y="24346"/>
                    <a:pt x="697688" y="9106"/>
                  </a:cubicBezTo>
                  <a:cubicBezTo>
                    <a:pt x="1059638" y="-18834"/>
                    <a:pt x="2056588" y="25616"/>
                    <a:pt x="2302968" y="34506"/>
                  </a:cubicBezTo>
                  <a:cubicBezTo>
                    <a:pt x="2376628" y="37046"/>
                    <a:pt x="2384248" y="35776"/>
                    <a:pt x="2446478" y="42126"/>
                  </a:cubicBezTo>
                  <a:cubicBezTo>
                    <a:pt x="2563318" y="53556"/>
                    <a:pt x="2823668" y="82766"/>
                    <a:pt x="2949398" y="119596"/>
                  </a:cubicBezTo>
                  <a:cubicBezTo>
                    <a:pt x="3028138" y="141186"/>
                    <a:pt x="3086558" y="170396"/>
                    <a:pt x="3136088" y="199606"/>
                  </a:cubicBezTo>
                  <a:cubicBezTo>
                    <a:pt x="3174188" y="221196"/>
                    <a:pt x="3205938" y="244056"/>
                    <a:pt x="3228798" y="270726"/>
                  </a:cubicBezTo>
                  <a:cubicBezTo>
                    <a:pt x="3250388" y="293586"/>
                    <a:pt x="3268168" y="317716"/>
                    <a:pt x="3274518" y="348196"/>
                  </a:cubicBezTo>
                  <a:cubicBezTo>
                    <a:pt x="3282138" y="385026"/>
                    <a:pt x="3274518" y="429476"/>
                    <a:pt x="3259278" y="477736"/>
                  </a:cubicBezTo>
                  <a:cubicBezTo>
                    <a:pt x="3235148" y="548856"/>
                    <a:pt x="3165298" y="668236"/>
                    <a:pt x="3118308" y="721576"/>
                  </a:cubicBezTo>
                  <a:cubicBezTo>
                    <a:pt x="3089098" y="753326"/>
                    <a:pt x="3072588" y="768566"/>
                    <a:pt x="3030678" y="786346"/>
                  </a:cubicBezTo>
                  <a:cubicBezTo>
                    <a:pt x="2954478" y="818096"/>
                    <a:pt x="2833828" y="828256"/>
                    <a:pt x="2668728" y="840956"/>
                  </a:cubicBezTo>
                  <a:cubicBezTo>
                    <a:pt x="2318208" y="866356"/>
                    <a:pt x="1353008" y="846036"/>
                    <a:pt x="1021538" y="837146"/>
                  </a:cubicBezTo>
                  <a:cubicBezTo>
                    <a:pt x="878028" y="832066"/>
                    <a:pt x="795478" y="830796"/>
                    <a:pt x="714198" y="819366"/>
                  </a:cubicBezTo>
                  <a:cubicBezTo>
                    <a:pt x="658318" y="811746"/>
                    <a:pt x="621488" y="805396"/>
                    <a:pt x="575768" y="790156"/>
                  </a:cubicBezTo>
                  <a:cubicBezTo>
                    <a:pt x="527508" y="773646"/>
                    <a:pt x="475438" y="748246"/>
                    <a:pt x="432258" y="721576"/>
                  </a:cubicBezTo>
                  <a:cubicBezTo>
                    <a:pt x="391618" y="697446"/>
                    <a:pt x="350978" y="668236"/>
                    <a:pt x="324308" y="637756"/>
                  </a:cubicBezTo>
                  <a:cubicBezTo>
                    <a:pt x="300178" y="611086"/>
                    <a:pt x="286208" y="581876"/>
                    <a:pt x="270968" y="551396"/>
                  </a:cubicBezTo>
                  <a:cubicBezTo>
                    <a:pt x="255728" y="517106"/>
                    <a:pt x="241758" y="471386"/>
                    <a:pt x="234138" y="442176"/>
                  </a:cubicBezTo>
                  <a:cubicBezTo>
                    <a:pt x="229058" y="421856"/>
                    <a:pt x="223978" y="409156"/>
                    <a:pt x="225248" y="392646"/>
                  </a:cubicBezTo>
                  <a:cubicBezTo>
                    <a:pt x="226518" y="374866"/>
                    <a:pt x="226518" y="357086"/>
                    <a:pt x="243028" y="336766"/>
                  </a:cubicBezTo>
                  <a:cubicBezTo>
                    <a:pt x="281128" y="291046"/>
                    <a:pt x="425908" y="228816"/>
                    <a:pt x="522428" y="186906"/>
                  </a:cubicBezTo>
                  <a:cubicBezTo>
                    <a:pt x="618948" y="143726"/>
                    <a:pt x="745948" y="94196"/>
                    <a:pt x="822148" y="78956"/>
                  </a:cubicBezTo>
                  <a:cubicBezTo>
                    <a:pt x="866598" y="70066"/>
                    <a:pt x="893268" y="78956"/>
                    <a:pt x="930098" y="73876"/>
                  </a:cubicBezTo>
                  <a:cubicBezTo>
                    <a:pt x="972008" y="68796"/>
                    <a:pt x="1035508" y="40856"/>
                    <a:pt x="1058368" y="44666"/>
                  </a:cubicBezTo>
                  <a:cubicBezTo>
                    <a:pt x="1067258" y="47206"/>
                    <a:pt x="1073608" y="52286"/>
                    <a:pt x="1074878" y="57366"/>
                  </a:cubicBezTo>
                  <a:cubicBezTo>
                    <a:pt x="1076148" y="62446"/>
                    <a:pt x="1064718" y="75146"/>
                    <a:pt x="1064718" y="75146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947160" y="7771447"/>
            <a:ext cx="1470660" cy="141922"/>
            <a:chOff x="0" y="0"/>
            <a:chExt cx="1960880" cy="1892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0800" y="30809"/>
              <a:ext cx="1859471" cy="109917"/>
            </a:xfrm>
            <a:custGeom>
              <a:avLst/>
              <a:gdLst/>
              <a:ahLst/>
              <a:cxnLst/>
              <a:rect r="r" b="b" t="t" l="l"/>
              <a:pathLst>
                <a:path h="109917" w="1859471">
                  <a:moveTo>
                    <a:pt x="16510" y="75871"/>
                  </a:moveTo>
                  <a:cubicBezTo>
                    <a:pt x="938530" y="7291"/>
                    <a:pt x="1764030" y="-23189"/>
                    <a:pt x="1844040" y="19991"/>
                  </a:cubicBezTo>
                  <a:cubicBezTo>
                    <a:pt x="1855470" y="26341"/>
                    <a:pt x="1860550" y="36501"/>
                    <a:pt x="1858010" y="41581"/>
                  </a:cubicBezTo>
                  <a:cubicBezTo>
                    <a:pt x="1856740" y="45391"/>
                    <a:pt x="1837690" y="49201"/>
                    <a:pt x="1833880" y="46661"/>
                  </a:cubicBezTo>
                  <a:cubicBezTo>
                    <a:pt x="1830070" y="42851"/>
                    <a:pt x="1833880" y="23801"/>
                    <a:pt x="1837690" y="21261"/>
                  </a:cubicBezTo>
                  <a:cubicBezTo>
                    <a:pt x="1842770" y="19991"/>
                    <a:pt x="1859280" y="28881"/>
                    <a:pt x="1859280" y="33961"/>
                  </a:cubicBezTo>
                  <a:cubicBezTo>
                    <a:pt x="1860550" y="39041"/>
                    <a:pt x="1855470" y="45391"/>
                    <a:pt x="1844040" y="50471"/>
                  </a:cubicBezTo>
                  <a:cubicBezTo>
                    <a:pt x="1761490" y="86031"/>
                    <a:pt x="929640" y="35231"/>
                    <a:pt x="601980" y="51741"/>
                  </a:cubicBezTo>
                  <a:cubicBezTo>
                    <a:pt x="387350" y="63171"/>
                    <a:pt x="160020" y="103811"/>
                    <a:pt x="69850" y="107621"/>
                  </a:cubicBezTo>
                  <a:cubicBezTo>
                    <a:pt x="39370" y="108891"/>
                    <a:pt x="19050" y="112701"/>
                    <a:pt x="8890" y="106351"/>
                  </a:cubicBezTo>
                  <a:cubicBezTo>
                    <a:pt x="2540" y="102541"/>
                    <a:pt x="0" y="94921"/>
                    <a:pt x="0" y="89841"/>
                  </a:cubicBezTo>
                  <a:cubicBezTo>
                    <a:pt x="1270" y="84761"/>
                    <a:pt x="16510" y="75871"/>
                    <a:pt x="16510" y="7587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95325"/>
            <a:ext cx="12580460" cy="10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  <a:spcBef>
                <a:spcPct val="0"/>
              </a:spcBef>
            </a:pPr>
            <a:r>
              <a:rPr lang="en-US" b="true" sz="50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Slashes = LINKS-ASSOZIATIV!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44776"/>
            <a:ext cx="12806510" cy="309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s\np/np   ≡   (s\np)/np            nicht s\(np/np)!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a/b\c/d   ≡   ((a/b)\c)/d</a:t>
            </a:r>
          </a:p>
          <a:p>
            <a:pPr algn="l">
              <a:lnSpc>
                <a:spcPts val="6249"/>
              </a:lnSpc>
            </a:pPr>
          </a:p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Zweifelsfällen: explizit klammern.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95325"/>
            <a:ext cx="12580460" cy="10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  <a:spcBef>
                <a:spcPct val="0"/>
              </a:spcBef>
            </a:pPr>
            <a:r>
              <a:rPr lang="en-US" b="true" sz="50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Wort-Deklarationen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44776"/>
            <a:ext cx="12806510" cy="388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Variante 1: Kurzform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word liebt: TransV;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word Mann: Noun: masc;</a:t>
            </a:r>
          </a:p>
          <a:p>
            <a:pPr algn="l">
              <a:lnSpc>
                <a:spcPts val="6249"/>
              </a:lnSpc>
            </a:pPr>
          </a:p>
          <a:p>
            <a:pPr algn="l">
              <a:lnSpc>
                <a:spcPts val="624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21226" y="6013295"/>
            <a:ext cx="8932525" cy="1515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Hier ist Lemma = Wortform. </a:t>
            </a: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Die Features stehen nach dem zweiten Doppelpunkt.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95325"/>
            <a:ext cx="12580460" cy="10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  <a:spcBef>
                <a:spcPct val="0"/>
              </a:spcBef>
            </a:pPr>
            <a:r>
              <a:rPr lang="en-US" b="true" sz="50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Wort-Deklarationen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92238"/>
            <a:ext cx="15352940" cy="7049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Variante 2: Block-Form (mehrere Wortformen unter einem Lemma)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word _det: Det {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der: nom masc;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das: nom neut;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die: nom fem;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den: acc masc;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das: acc neut;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die: acc fem;</a:t>
            </a:r>
          </a:p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95325"/>
            <a:ext cx="12580460" cy="10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  <a:spcBef>
                <a:spcPct val="0"/>
              </a:spcBef>
            </a:pPr>
            <a:r>
              <a:rPr lang="en-US" b="true" sz="50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Wort-Deklarationen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92238"/>
            <a:ext cx="15352940" cy="7049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Variante 2: Block-Form (mehrere Wortformen unter einem Lemma)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word det: Det {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der: nom masc;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das: nom neut;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die: nom fem;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den: acc masc;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das: acc neut;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die: acc fem;</a:t>
            </a:r>
          </a:p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73137" y="4068675"/>
            <a:ext cx="8986163" cy="1515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 ist nur ein interner Bezeichner und muss eindeutig sein. 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95325"/>
            <a:ext cx="12580460" cy="10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  <a:spcBef>
                <a:spcPct val="0"/>
              </a:spcBef>
            </a:pPr>
            <a:r>
              <a:rPr lang="en-US" b="true" sz="50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Regeln deaktivieren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92238"/>
            <a:ext cx="15352940" cy="309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rule {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no sub +-;          Substitution &gt;S, &lt;S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no xsub +-;       crossed substitution</a:t>
            </a:r>
          </a:p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425702"/>
            <a:ext cx="8986163" cy="72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+- umfasst beide Richtungen.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95325"/>
            <a:ext cx="12580460" cy="10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  <a:spcBef>
                <a:spcPct val="0"/>
              </a:spcBef>
            </a:pPr>
            <a:r>
              <a:rPr lang="en-US" b="true" sz="50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Featurestrukturen in OpenCCG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92238"/>
            <a:ext cx="15352940" cy="467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Ein Paar wichtige Eigenschaften</a:t>
            </a:r>
          </a:p>
          <a:p>
            <a:pPr algn="l" marL="721501" indent="-360750" lvl="1">
              <a:lnSpc>
                <a:spcPts val="6249"/>
              </a:lnSpc>
              <a:buAutoNum type="arabicPeriod" startAt="1"/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Featurestrukturen haben nur atomare Werte, keine eingebetteten Featurestrukturen</a:t>
            </a:r>
          </a:p>
          <a:p>
            <a:pPr algn="l" marL="721501" indent="-360750" lvl="1">
              <a:lnSpc>
                <a:spcPts val="6249"/>
              </a:lnSpc>
              <a:buAutoNum type="arabicPeriod" startAt="1"/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Nur an atomaren Kategorien: np[nom] geht, (s\np)[nom] geht nicht.</a:t>
            </a:r>
          </a:p>
          <a:p>
            <a:pPr algn="l" marL="721501" indent="-360750" lvl="1">
              <a:lnSpc>
                <a:spcPts val="6249"/>
              </a:lnSpc>
              <a:buAutoNum type="arabicPeriod" startAt="1"/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Atomare Kategorien tragen einen Index &lt;n&gt; (more on that later)</a:t>
            </a:r>
          </a:p>
          <a:p>
            <a:pPr algn="l">
              <a:lnSpc>
                <a:spcPts val="624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95325"/>
            <a:ext cx="12580460" cy="10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  <a:spcBef>
                <a:spcPct val="0"/>
              </a:spcBef>
            </a:pPr>
            <a:r>
              <a:rPr lang="en-US" b="true" sz="50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Feature-Deklaration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92238"/>
            <a:ext cx="15352940" cy="388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eature {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CASE&lt;2&gt;: nom acc dat;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GENDER&lt;2&gt;: masc fem neut;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NUM&lt;2&gt;: sg pl;</a:t>
            </a:r>
          </a:p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95325"/>
            <a:ext cx="12580460" cy="10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  <a:spcBef>
                <a:spcPct val="0"/>
              </a:spcBef>
            </a:pPr>
            <a:r>
              <a:rPr lang="en-US" b="true" sz="50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Indizes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92238"/>
            <a:ext cx="15352940" cy="388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eature {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CASE&lt;2&gt;: nom acc dat;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GENDER&lt;2&gt;: masc fem neut;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NUM&lt;2&gt;: sg pl;</a:t>
            </a:r>
          </a:p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}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565355"/>
            <a:ext cx="9127807" cy="2306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np&lt;2&gt; / n&lt;2&gt;</a:t>
            </a:r>
          </a:p>
          <a:p>
            <a:pPr algn="l">
              <a:lnSpc>
                <a:spcPts val="6249"/>
              </a:lnSpc>
              <a:spcBef>
                <a:spcPct val="0"/>
              </a:spcBef>
            </a:pPr>
          </a:p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 und n teilen sich dieselbe Featurestruktur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95325"/>
            <a:ext cx="12580460" cy="10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  <a:spcBef>
                <a:spcPct val="0"/>
              </a:spcBef>
            </a:pPr>
            <a:r>
              <a:rPr lang="en-US" b="true" sz="50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Indizes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438373"/>
            <a:ext cx="15352940" cy="2306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d</a:t>
            </a: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                                      Mann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NP[nom,</a:t>
            </a: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masc] / N[nom, masc]          N[masc]</a:t>
            </a:r>
          </a:p>
          <a:p>
            <a:pPr algn="l">
              <a:lnSpc>
                <a:spcPts val="624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24885"/>
            <a:ext cx="10465276" cy="2306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np&lt;2&gt; / n&lt;2&gt;</a:t>
            </a:r>
          </a:p>
          <a:p>
            <a:pPr algn="l">
              <a:lnSpc>
                <a:spcPts val="6249"/>
              </a:lnSpc>
              <a:spcBef>
                <a:spcPct val="0"/>
              </a:spcBef>
            </a:pPr>
          </a:p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 und n teilen sich genau dieselbe Featurestruktur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95325"/>
            <a:ext cx="14790172" cy="10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  <a:spcBef>
                <a:spcPct val="0"/>
              </a:spcBef>
            </a:pPr>
            <a:r>
              <a:rPr lang="en-US" b="true" sz="50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OpenCCG wiki's Spanish example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24885"/>
            <a:ext cx="7931309" cy="467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 {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NUM&lt;2&gt;: sg pl;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PERS&lt;2&gt;: 1st 2nd 3rd;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}</a:t>
            </a:r>
          </a:p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family Intra</a:t>
            </a: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nsV(V) { entry: s&lt;1&gt; \ n&lt;2&gt;; }</a:t>
            </a:r>
          </a:p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word baila: IntransV: 3rd sg;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95325"/>
            <a:ext cx="14790172" cy="10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  <a:spcBef>
                <a:spcPct val="0"/>
              </a:spcBef>
            </a:pPr>
            <a:r>
              <a:rPr lang="en-US" b="true" sz="50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OpenCCG wiki's Spanish example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24885"/>
            <a:ext cx="7931309" cy="467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 {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NUM&lt;2&gt;: sg pl;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PERS&lt;2&gt;: 1st 2nd 3rd;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}</a:t>
            </a:r>
          </a:p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family Intra</a:t>
            </a: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nsV(V) { entry: s&lt;1&gt; \ n&lt;2&gt;; }</a:t>
            </a:r>
          </a:p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word baila: IntransV: 3rd sg;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388995" y="2489835"/>
            <a:ext cx="6701790" cy="4863465"/>
            <a:chOff x="0" y="0"/>
            <a:chExt cx="8935720" cy="64846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0800" y="49050"/>
              <a:ext cx="8833863" cy="6386108"/>
            </a:xfrm>
            <a:custGeom>
              <a:avLst/>
              <a:gdLst/>
              <a:ahLst/>
              <a:cxnLst/>
              <a:rect r="r" b="b" t="t" l="l"/>
              <a:pathLst>
                <a:path h="6386108" w="8833863">
                  <a:moveTo>
                    <a:pt x="0" y="1026640"/>
                  </a:moveTo>
                  <a:cubicBezTo>
                    <a:pt x="186690" y="747240"/>
                    <a:pt x="260350" y="671040"/>
                    <a:pt x="321310" y="616430"/>
                  </a:cubicBezTo>
                  <a:cubicBezTo>
                    <a:pt x="369570" y="571980"/>
                    <a:pt x="411480" y="541500"/>
                    <a:pt x="462280" y="505940"/>
                  </a:cubicBezTo>
                  <a:cubicBezTo>
                    <a:pt x="516890" y="467840"/>
                    <a:pt x="577850" y="429740"/>
                    <a:pt x="641350" y="394180"/>
                  </a:cubicBezTo>
                  <a:cubicBezTo>
                    <a:pt x="706120" y="358620"/>
                    <a:pt x="773430" y="324330"/>
                    <a:pt x="845820" y="292580"/>
                  </a:cubicBezTo>
                  <a:cubicBezTo>
                    <a:pt x="927100" y="258290"/>
                    <a:pt x="1004570" y="227810"/>
                    <a:pt x="1106170" y="196060"/>
                  </a:cubicBezTo>
                  <a:cubicBezTo>
                    <a:pt x="1245870" y="152880"/>
                    <a:pt x="1468120" y="100810"/>
                    <a:pt x="1612900" y="74140"/>
                  </a:cubicBezTo>
                  <a:cubicBezTo>
                    <a:pt x="1719580" y="55090"/>
                    <a:pt x="1780540" y="48740"/>
                    <a:pt x="1894840" y="38580"/>
                  </a:cubicBezTo>
                  <a:cubicBezTo>
                    <a:pt x="2067560" y="23340"/>
                    <a:pt x="2358390" y="5560"/>
                    <a:pt x="2550160" y="1750"/>
                  </a:cubicBezTo>
                  <a:cubicBezTo>
                    <a:pt x="2698750" y="-2060"/>
                    <a:pt x="2818130" y="480"/>
                    <a:pt x="2948940" y="8100"/>
                  </a:cubicBezTo>
                  <a:cubicBezTo>
                    <a:pt x="3072130" y="14450"/>
                    <a:pt x="3191510" y="27150"/>
                    <a:pt x="3312160" y="42390"/>
                  </a:cubicBezTo>
                  <a:cubicBezTo>
                    <a:pt x="3431540" y="57630"/>
                    <a:pt x="3526790" y="74140"/>
                    <a:pt x="3670300" y="99540"/>
                  </a:cubicBezTo>
                  <a:cubicBezTo>
                    <a:pt x="3887470" y="138910"/>
                    <a:pt x="4262120" y="211300"/>
                    <a:pt x="4489450" y="264640"/>
                  </a:cubicBezTo>
                  <a:cubicBezTo>
                    <a:pt x="4654550" y="304010"/>
                    <a:pt x="4726940" y="325600"/>
                    <a:pt x="4912360" y="377670"/>
                  </a:cubicBezTo>
                  <a:cubicBezTo>
                    <a:pt x="5267960" y="478000"/>
                    <a:pt x="6085840" y="711680"/>
                    <a:pt x="6473190" y="842490"/>
                  </a:cubicBezTo>
                  <a:cubicBezTo>
                    <a:pt x="6708140" y="922500"/>
                    <a:pt x="6887210" y="992350"/>
                    <a:pt x="7030720" y="1057120"/>
                  </a:cubicBezTo>
                  <a:cubicBezTo>
                    <a:pt x="7125970" y="1100300"/>
                    <a:pt x="7176770" y="1128240"/>
                    <a:pt x="7259320" y="1176500"/>
                  </a:cubicBezTo>
                  <a:cubicBezTo>
                    <a:pt x="7362190" y="1236190"/>
                    <a:pt x="7506970" y="1330170"/>
                    <a:pt x="7595870" y="1393670"/>
                  </a:cubicBezTo>
                  <a:cubicBezTo>
                    <a:pt x="7656830" y="1438120"/>
                    <a:pt x="7693660" y="1464790"/>
                    <a:pt x="7747000" y="1513050"/>
                  </a:cubicBezTo>
                  <a:cubicBezTo>
                    <a:pt x="7814310" y="1572740"/>
                    <a:pt x="7901940" y="1664180"/>
                    <a:pt x="7960360" y="1731490"/>
                  </a:cubicBezTo>
                  <a:cubicBezTo>
                    <a:pt x="8006080" y="1786100"/>
                    <a:pt x="8032750" y="1822930"/>
                    <a:pt x="8074660" y="1883890"/>
                  </a:cubicBezTo>
                  <a:cubicBezTo>
                    <a:pt x="8135620" y="1971520"/>
                    <a:pt x="8211820" y="2073120"/>
                    <a:pt x="8286750" y="2210280"/>
                  </a:cubicBezTo>
                  <a:cubicBezTo>
                    <a:pt x="8397240" y="2414750"/>
                    <a:pt x="8559800" y="2774160"/>
                    <a:pt x="8641080" y="3012920"/>
                  </a:cubicBezTo>
                  <a:cubicBezTo>
                    <a:pt x="8704580" y="3195800"/>
                    <a:pt x="8735060" y="3362170"/>
                    <a:pt x="8765540" y="3512030"/>
                  </a:cubicBezTo>
                  <a:cubicBezTo>
                    <a:pt x="8789670" y="3631410"/>
                    <a:pt x="8804910" y="3707610"/>
                    <a:pt x="8817610" y="3838420"/>
                  </a:cubicBezTo>
                  <a:cubicBezTo>
                    <a:pt x="8834120" y="4031460"/>
                    <a:pt x="8835390" y="4389600"/>
                    <a:pt x="8832850" y="4555970"/>
                  </a:cubicBezTo>
                  <a:cubicBezTo>
                    <a:pt x="8832850" y="4646140"/>
                    <a:pt x="8831580" y="4685510"/>
                    <a:pt x="8823960" y="4762980"/>
                  </a:cubicBezTo>
                  <a:cubicBezTo>
                    <a:pt x="8811260" y="4865850"/>
                    <a:pt x="8784590" y="5006820"/>
                    <a:pt x="8760460" y="5117310"/>
                  </a:cubicBezTo>
                  <a:cubicBezTo>
                    <a:pt x="8740140" y="5212560"/>
                    <a:pt x="8718550" y="5315430"/>
                    <a:pt x="8691880" y="5385280"/>
                  </a:cubicBezTo>
                  <a:cubicBezTo>
                    <a:pt x="8674100" y="5434810"/>
                    <a:pt x="8655050" y="5466560"/>
                    <a:pt x="8633460" y="5505930"/>
                  </a:cubicBezTo>
                  <a:cubicBezTo>
                    <a:pt x="8611870" y="5545300"/>
                    <a:pt x="8596630" y="5579590"/>
                    <a:pt x="8564880" y="5621500"/>
                  </a:cubicBezTo>
                  <a:cubicBezTo>
                    <a:pt x="8521700" y="5678650"/>
                    <a:pt x="8435340" y="5758660"/>
                    <a:pt x="8380730" y="5808190"/>
                  </a:cubicBezTo>
                  <a:cubicBezTo>
                    <a:pt x="8341360" y="5842480"/>
                    <a:pt x="8318500" y="5858990"/>
                    <a:pt x="8272780" y="5890740"/>
                  </a:cubicBezTo>
                  <a:cubicBezTo>
                    <a:pt x="8199120" y="5941540"/>
                    <a:pt x="8092440" y="6013930"/>
                    <a:pt x="7973060" y="6071080"/>
                  </a:cubicBezTo>
                  <a:cubicBezTo>
                    <a:pt x="7814310" y="6148550"/>
                    <a:pt x="7539990" y="6245070"/>
                    <a:pt x="7396480" y="6290790"/>
                  </a:cubicBezTo>
                  <a:cubicBezTo>
                    <a:pt x="7313930" y="6317460"/>
                    <a:pt x="7265670" y="6331430"/>
                    <a:pt x="7198360" y="6344130"/>
                  </a:cubicBezTo>
                  <a:cubicBezTo>
                    <a:pt x="7131050" y="6356830"/>
                    <a:pt x="7087870" y="6360640"/>
                    <a:pt x="6993890" y="6366990"/>
                  </a:cubicBezTo>
                  <a:cubicBezTo>
                    <a:pt x="6783070" y="6380960"/>
                    <a:pt x="6225540" y="6391120"/>
                    <a:pt x="5971540" y="6383500"/>
                  </a:cubicBezTo>
                  <a:cubicBezTo>
                    <a:pt x="5817870" y="6379690"/>
                    <a:pt x="5731510" y="6372070"/>
                    <a:pt x="5604510" y="6358100"/>
                  </a:cubicBezTo>
                  <a:cubicBezTo>
                    <a:pt x="5468620" y="6341590"/>
                    <a:pt x="5308600" y="6313650"/>
                    <a:pt x="5180330" y="6286980"/>
                  </a:cubicBezTo>
                  <a:cubicBezTo>
                    <a:pt x="5072380" y="6264120"/>
                    <a:pt x="4977130" y="6241260"/>
                    <a:pt x="4886960" y="6212050"/>
                  </a:cubicBezTo>
                  <a:cubicBezTo>
                    <a:pt x="4806950" y="6185380"/>
                    <a:pt x="4735830" y="6157440"/>
                    <a:pt x="4667250" y="6121880"/>
                  </a:cubicBezTo>
                  <a:cubicBezTo>
                    <a:pt x="4599940" y="6086320"/>
                    <a:pt x="4533900" y="6049490"/>
                    <a:pt x="4475480" y="5999960"/>
                  </a:cubicBezTo>
                  <a:cubicBezTo>
                    <a:pt x="4414520" y="5947890"/>
                    <a:pt x="4319270" y="5847560"/>
                    <a:pt x="4310380" y="5817080"/>
                  </a:cubicBezTo>
                  <a:cubicBezTo>
                    <a:pt x="4307840" y="5808190"/>
                    <a:pt x="4310380" y="5801840"/>
                    <a:pt x="4314190" y="5798030"/>
                  </a:cubicBezTo>
                  <a:cubicBezTo>
                    <a:pt x="4318000" y="5795490"/>
                    <a:pt x="4329430" y="5794220"/>
                    <a:pt x="4333240" y="5796760"/>
                  </a:cubicBezTo>
                  <a:cubicBezTo>
                    <a:pt x="4337050" y="5800570"/>
                    <a:pt x="4337050" y="5819620"/>
                    <a:pt x="4333240" y="5822160"/>
                  </a:cubicBezTo>
                  <a:cubicBezTo>
                    <a:pt x="4329430" y="5825970"/>
                    <a:pt x="4314190" y="5822160"/>
                    <a:pt x="4311650" y="5818350"/>
                  </a:cubicBezTo>
                  <a:cubicBezTo>
                    <a:pt x="4307840" y="5814540"/>
                    <a:pt x="4309110" y="5803110"/>
                    <a:pt x="4312920" y="5799300"/>
                  </a:cubicBezTo>
                  <a:cubicBezTo>
                    <a:pt x="4316730" y="5795490"/>
                    <a:pt x="4325620" y="5795490"/>
                    <a:pt x="4335780" y="5799300"/>
                  </a:cubicBezTo>
                  <a:cubicBezTo>
                    <a:pt x="4364990" y="5813270"/>
                    <a:pt x="4428490" y="5923760"/>
                    <a:pt x="4486910" y="5973290"/>
                  </a:cubicBezTo>
                  <a:cubicBezTo>
                    <a:pt x="4542790" y="6022820"/>
                    <a:pt x="4610100" y="6059650"/>
                    <a:pt x="4677410" y="6095210"/>
                  </a:cubicBezTo>
                  <a:cubicBezTo>
                    <a:pt x="4745990" y="6130770"/>
                    <a:pt x="4809490" y="6157440"/>
                    <a:pt x="4893310" y="6184110"/>
                  </a:cubicBezTo>
                  <a:cubicBezTo>
                    <a:pt x="5003800" y="6219670"/>
                    <a:pt x="5161280" y="6253960"/>
                    <a:pt x="5285740" y="6278090"/>
                  </a:cubicBezTo>
                  <a:cubicBezTo>
                    <a:pt x="5398770" y="6300950"/>
                    <a:pt x="5496560" y="6316190"/>
                    <a:pt x="5607050" y="6328890"/>
                  </a:cubicBezTo>
                  <a:cubicBezTo>
                    <a:pt x="5723890" y="6342860"/>
                    <a:pt x="5819140" y="6350480"/>
                    <a:pt x="5971540" y="6355560"/>
                  </a:cubicBezTo>
                  <a:cubicBezTo>
                    <a:pt x="6225540" y="6361910"/>
                    <a:pt x="6781800" y="6351750"/>
                    <a:pt x="6990080" y="6339050"/>
                  </a:cubicBezTo>
                  <a:cubicBezTo>
                    <a:pt x="7082790" y="6332700"/>
                    <a:pt x="7124700" y="6328890"/>
                    <a:pt x="7190740" y="6316190"/>
                  </a:cubicBezTo>
                  <a:cubicBezTo>
                    <a:pt x="7256780" y="6304760"/>
                    <a:pt x="7305040" y="6290790"/>
                    <a:pt x="7387590" y="6264120"/>
                  </a:cubicBezTo>
                  <a:cubicBezTo>
                    <a:pt x="7528560" y="6218400"/>
                    <a:pt x="7801610" y="6123150"/>
                    <a:pt x="7959090" y="6046950"/>
                  </a:cubicBezTo>
                  <a:cubicBezTo>
                    <a:pt x="8077200" y="5989800"/>
                    <a:pt x="8182610" y="5917410"/>
                    <a:pt x="8255000" y="5867880"/>
                  </a:cubicBezTo>
                  <a:cubicBezTo>
                    <a:pt x="8300720" y="5837400"/>
                    <a:pt x="8322310" y="5820890"/>
                    <a:pt x="8361680" y="5786600"/>
                  </a:cubicBezTo>
                  <a:cubicBezTo>
                    <a:pt x="8415020" y="5739610"/>
                    <a:pt x="8497570" y="5662140"/>
                    <a:pt x="8540750" y="5606260"/>
                  </a:cubicBezTo>
                  <a:cubicBezTo>
                    <a:pt x="8572500" y="5565620"/>
                    <a:pt x="8587740" y="5531330"/>
                    <a:pt x="8608060" y="5493230"/>
                  </a:cubicBezTo>
                  <a:cubicBezTo>
                    <a:pt x="8628380" y="5455130"/>
                    <a:pt x="8647430" y="5425920"/>
                    <a:pt x="8665210" y="5377660"/>
                  </a:cubicBezTo>
                  <a:cubicBezTo>
                    <a:pt x="8690610" y="5309080"/>
                    <a:pt x="8712200" y="5207480"/>
                    <a:pt x="8732520" y="5112230"/>
                  </a:cubicBezTo>
                  <a:cubicBezTo>
                    <a:pt x="8755380" y="5004280"/>
                    <a:pt x="8783320" y="4863310"/>
                    <a:pt x="8794750" y="4761710"/>
                  </a:cubicBezTo>
                  <a:cubicBezTo>
                    <a:pt x="8803640" y="4684240"/>
                    <a:pt x="8803640" y="4644870"/>
                    <a:pt x="8804910" y="4555970"/>
                  </a:cubicBezTo>
                  <a:cubicBezTo>
                    <a:pt x="8807450" y="4389600"/>
                    <a:pt x="8806180" y="4034000"/>
                    <a:pt x="8788400" y="3842230"/>
                  </a:cubicBezTo>
                  <a:cubicBezTo>
                    <a:pt x="8776970" y="3712690"/>
                    <a:pt x="8761730" y="3637760"/>
                    <a:pt x="8737600" y="3518380"/>
                  </a:cubicBezTo>
                  <a:cubicBezTo>
                    <a:pt x="8708390" y="3369790"/>
                    <a:pt x="8677910" y="3204690"/>
                    <a:pt x="8615680" y="3023080"/>
                  </a:cubicBezTo>
                  <a:cubicBezTo>
                    <a:pt x="8534400" y="2785590"/>
                    <a:pt x="8388350" y="2452850"/>
                    <a:pt x="8262620" y="2225520"/>
                  </a:cubicBezTo>
                  <a:cubicBezTo>
                    <a:pt x="8159750" y="2041370"/>
                    <a:pt x="8040370" y="1875000"/>
                    <a:pt x="7938770" y="1751810"/>
                  </a:cubicBezTo>
                  <a:cubicBezTo>
                    <a:pt x="7865110" y="1661640"/>
                    <a:pt x="7795260" y="1594330"/>
                    <a:pt x="7729220" y="1535910"/>
                  </a:cubicBezTo>
                  <a:cubicBezTo>
                    <a:pt x="7677150" y="1487650"/>
                    <a:pt x="7640320" y="1460980"/>
                    <a:pt x="7579360" y="1417800"/>
                  </a:cubicBezTo>
                  <a:cubicBezTo>
                    <a:pt x="7491730" y="1354300"/>
                    <a:pt x="7348220" y="1260320"/>
                    <a:pt x="7246620" y="1201900"/>
                  </a:cubicBezTo>
                  <a:cubicBezTo>
                    <a:pt x="7165340" y="1153640"/>
                    <a:pt x="7113270" y="1125700"/>
                    <a:pt x="7020560" y="1083790"/>
                  </a:cubicBezTo>
                  <a:cubicBezTo>
                    <a:pt x="6877050" y="1020290"/>
                    <a:pt x="6629400" y="928850"/>
                    <a:pt x="6464300" y="870430"/>
                  </a:cubicBezTo>
                  <a:cubicBezTo>
                    <a:pt x="6333490" y="824710"/>
                    <a:pt x="6271260" y="806930"/>
                    <a:pt x="6109970" y="757400"/>
                  </a:cubicBezTo>
                  <a:cubicBezTo>
                    <a:pt x="5765800" y="653260"/>
                    <a:pt x="4935220" y="403070"/>
                    <a:pt x="4484370" y="292580"/>
                  </a:cubicBezTo>
                  <a:cubicBezTo>
                    <a:pt x="4166870" y="216380"/>
                    <a:pt x="3882390" y="166850"/>
                    <a:pt x="3665220" y="127480"/>
                  </a:cubicBezTo>
                  <a:cubicBezTo>
                    <a:pt x="3522980" y="102080"/>
                    <a:pt x="3429000" y="85570"/>
                    <a:pt x="3308350" y="70330"/>
                  </a:cubicBezTo>
                  <a:cubicBezTo>
                    <a:pt x="3188970" y="55090"/>
                    <a:pt x="3070860" y="42390"/>
                    <a:pt x="2947670" y="36040"/>
                  </a:cubicBezTo>
                  <a:cubicBezTo>
                    <a:pt x="2819400" y="28420"/>
                    <a:pt x="2677160" y="28420"/>
                    <a:pt x="2550160" y="29690"/>
                  </a:cubicBezTo>
                  <a:cubicBezTo>
                    <a:pt x="2435860" y="30960"/>
                    <a:pt x="2346960" y="32230"/>
                    <a:pt x="2221230" y="41120"/>
                  </a:cubicBezTo>
                  <a:cubicBezTo>
                    <a:pt x="2049780" y="52550"/>
                    <a:pt x="1809750" y="69060"/>
                    <a:pt x="1619250" y="102080"/>
                  </a:cubicBezTo>
                  <a:cubicBezTo>
                    <a:pt x="1442720" y="132560"/>
                    <a:pt x="1254760" y="180820"/>
                    <a:pt x="1116330" y="222730"/>
                  </a:cubicBezTo>
                  <a:cubicBezTo>
                    <a:pt x="1014730" y="254480"/>
                    <a:pt x="938530" y="283690"/>
                    <a:pt x="858520" y="319250"/>
                  </a:cubicBezTo>
                  <a:cubicBezTo>
                    <a:pt x="786130" y="349730"/>
                    <a:pt x="720090" y="382750"/>
                    <a:pt x="656590" y="419580"/>
                  </a:cubicBezTo>
                  <a:cubicBezTo>
                    <a:pt x="594360" y="453870"/>
                    <a:pt x="533400" y="490700"/>
                    <a:pt x="480060" y="528800"/>
                  </a:cubicBezTo>
                  <a:cubicBezTo>
                    <a:pt x="430530" y="563090"/>
                    <a:pt x="389890" y="593570"/>
                    <a:pt x="341630" y="636750"/>
                  </a:cubicBezTo>
                  <a:cubicBezTo>
                    <a:pt x="283210" y="691360"/>
                    <a:pt x="209550" y="765020"/>
                    <a:pt x="156210" y="834870"/>
                  </a:cubicBezTo>
                  <a:cubicBezTo>
                    <a:pt x="105410" y="902180"/>
                    <a:pt x="53340" y="1026640"/>
                    <a:pt x="25400" y="1044420"/>
                  </a:cubicBezTo>
                  <a:cubicBezTo>
                    <a:pt x="17780" y="1049500"/>
                    <a:pt x="10160" y="1049500"/>
                    <a:pt x="5080" y="1046960"/>
                  </a:cubicBezTo>
                  <a:cubicBezTo>
                    <a:pt x="1270" y="1044420"/>
                    <a:pt x="0" y="1026640"/>
                    <a:pt x="0" y="102664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5125403" y="3239452"/>
            <a:ext cx="1831658" cy="3554730"/>
            <a:chOff x="0" y="0"/>
            <a:chExt cx="2442210" cy="4739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3591" y="43128"/>
              <a:ext cx="2358355" cy="4653343"/>
            </a:xfrm>
            <a:custGeom>
              <a:avLst/>
              <a:gdLst/>
              <a:ahLst/>
              <a:cxnLst/>
              <a:rect r="r" b="b" t="t" l="l"/>
              <a:pathLst>
                <a:path h="4653343" w="2358355">
                  <a:moveTo>
                    <a:pt x="570929" y="4613962"/>
                  </a:moveTo>
                  <a:cubicBezTo>
                    <a:pt x="842709" y="4608882"/>
                    <a:pt x="908749" y="4592372"/>
                    <a:pt x="979869" y="4573322"/>
                  </a:cubicBezTo>
                  <a:cubicBezTo>
                    <a:pt x="1056069" y="4554272"/>
                    <a:pt x="1152589" y="4523792"/>
                    <a:pt x="1216089" y="4499662"/>
                  </a:cubicBezTo>
                  <a:cubicBezTo>
                    <a:pt x="1259269" y="4483152"/>
                    <a:pt x="1284669" y="4470452"/>
                    <a:pt x="1322769" y="4448862"/>
                  </a:cubicBezTo>
                  <a:cubicBezTo>
                    <a:pt x="1373569" y="4420922"/>
                    <a:pt x="1435799" y="4382822"/>
                    <a:pt x="1491679" y="4340912"/>
                  </a:cubicBezTo>
                  <a:cubicBezTo>
                    <a:pt x="1550099" y="4296462"/>
                    <a:pt x="1608519" y="4245662"/>
                    <a:pt x="1665669" y="4189782"/>
                  </a:cubicBezTo>
                  <a:cubicBezTo>
                    <a:pt x="1725359" y="4128822"/>
                    <a:pt x="1778699" y="4055162"/>
                    <a:pt x="1840929" y="3990392"/>
                  </a:cubicBezTo>
                  <a:cubicBezTo>
                    <a:pt x="1906969" y="3921812"/>
                    <a:pt x="1993329" y="3859582"/>
                    <a:pt x="2049209" y="3788462"/>
                  </a:cubicBezTo>
                  <a:cubicBezTo>
                    <a:pt x="2098739" y="3724962"/>
                    <a:pt x="2127949" y="3670352"/>
                    <a:pt x="2163509" y="3589072"/>
                  </a:cubicBezTo>
                  <a:cubicBezTo>
                    <a:pt x="2213039" y="3473502"/>
                    <a:pt x="2270189" y="3277922"/>
                    <a:pt x="2294319" y="3150922"/>
                  </a:cubicBezTo>
                  <a:cubicBezTo>
                    <a:pt x="2313369" y="3054402"/>
                    <a:pt x="2312099" y="2995982"/>
                    <a:pt x="2318449" y="2893112"/>
                  </a:cubicBezTo>
                  <a:cubicBezTo>
                    <a:pt x="2326069" y="2740712"/>
                    <a:pt x="2333689" y="2481632"/>
                    <a:pt x="2328609" y="2320342"/>
                  </a:cubicBezTo>
                  <a:cubicBezTo>
                    <a:pt x="2324799" y="2200962"/>
                    <a:pt x="2315909" y="2108252"/>
                    <a:pt x="2303209" y="2011732"/>
                  </a:cubicBezTo>
                  <a:cubicBezTo>
                    <a:pt x="2290509" y="1926642"/>
                    <a:pt x="2270189" y="1847902"/>
                    <a:pt x="2252409" y="1771702"/>
                  </a:cubicBezTo>
                  <a:cubicBezTo>
                    <a:pt x="2235899" y="1700582"/>
                    <a:pt x="2224469" y="1633272"/>
                    <a:pt x="2197799" y="1567232"/>
                  </a:cubicBezTo>
                  <a:cubicBezTo>
                    <a:pt x="2171129" y="1499922"/>
                    <a:pt x="2127949" y="1438962"/>
                    <a:pt x="2091119" y="1372922"/>
                  </a:cubicBezTo>
                  <a:cubicBezTo>
                    <a:pt x="2051749" y="1303072"/>
                    <a:pt x="2014919" y="1231952"/>
                    <a:pt x="1969199" y="1159562"/>
                  </a:cubicBezTo>
                  <a:cubicBezTo>
                    <a:pt x="1918399" y="1078282"/>
                    <a:pt x="1867599" y="995732"/>
                    <a:pt x="1799019" y="908102"/>
                  </a:cubicBezTo>
                  <a:cubicBezTo>
                    <a:pt x="1713929" y="797612"/>
                    <a:pt x="1593279" y="660452"/>
                    <a:pt x="1487869" y="553772"/>
                  </a:cubicBezTo>
                  <a:cubicBezTo>
                    <a:pt x="1391349" y="455982"/>
                    <a:pt x="1289749" y="354382"/>
                    <a:pt x="1195769" y="288342"/>
                  </a:cubicBezTo>
                  <a:cubicBezTo>
                    <a:pt x="1119569" y="236272"/>
                    <a:pt x="1058609" y="209602"/>
                    <a:pt x="973519" y="174042"/>
                  </a:cubicBezTo>
                  <a:cubicBezTo>
                    <a:pt x="869379" y="128322"/>
                    <a:pt x="715709" y="71172"/>
                    <a:pt x="610299" y="49582"/>
                  </a:cubicBezTo>
                  <a:cubicBezTo>
                    <a:pt x="534099" y="34342"/>
                    <a:pt x="462979" y="21642"/>
                    <a:pt x="404559" y="35612"/>
                  </a:cubicBezTo>
                  <a:cubicBezTo>
                    <a:pt x="353759" y="47042"/>
                    <a:pt x="313119" y="85142"/>
                    <a:pt x="273749" y="109272"/>
                  </a:cubicBezTo>
                  <a:cubicBezTo>
                    <a:pt x="240729" y="130862"/>
                    <a:pt x="211519" y="146102"/>
                    <a:pt x="182309" y="175312"/>
                  </a:cubicBezTo>
                  <a:cubicBezTo>
                    <a:pt x="146749" y="210872"/>
                    <a:pt x="103569" y="261672"/>
                    <a:pt x="80709" y="313742"/>
                  </a:cubicBezTo>
                  <a:cubicBezTo>
                    <a:pt x="57849" y="365812"/>
                    <a:pt x="54039" y="414072"/>
                    <a:pt x="46419" y="486462"/>
                  </a:cubicBezTo>
                  <a:cubicBezTo>
                    <a:pt x="33719" y="607112"/>
                    <a:pt x="73089" y="928422"/>
                    <a:pt x="45149" y="972872"/>
                  </a:cubicBezTo>
                  <a:cubicBezTo>
                    <a:pt x="37529" y="984302"/>
                    <a:pt x="22289" y="988112"/>
                    <a:pt x="19749" y="985572"/>
                  </a:cubicBezTo>
                  <a:cubicBezTo>
                    <a:pt x="15939" y="983032"/>
                    <a:pt x="23559" y="958902"/>
                    <a:pt x="27369" y="957632"/>
                  </a:cubicBezTo>
                  <a:cubicBezTo>
                    <a:pt x="31179" y="957632"/>
                    <a:pt x="45149" y="976682"/>
                    <a:pt x="42609" y="981762"/>
                  </a:cubicBezTo>
                  <a:cubicBezTo>
                    <a:pt x="40069" y="985572"/>
                    <a:pt x="23559" y="989382"/>
                    <a:pt x="17209" y="983032"/>
                  </a:cubicBezTo>
                  <a:cubicBezTo>
                    <a:pt x="-13271" y="953822"/>
                    <a:pt x="3239" y="609652"/>
                    <a:pt x="17209" y="483922"/>
                  </a:cubicBezTo>
                  <a:cubicBezTo>
                    <a:pt x="24829" y="406452"/>
                    <a:pt x="31179" y="355652"/>
                    <a:pt x="56579" y="299772"/>
                  </a:cubicBezTo>
                  <a:cubicBezTo>
                    <a:pt x="80709" y="245162"/>
                    <a:pt x="114999" y="196902"/>
                    <a:pt x="164529" y="152452"/>
                  </a:cubicBezTo>
                  <a:cubicBezTo>
                    <a:pt x="224219" y="97842"/>
                    <a:pt x="322009" y="26722"/>
                    <a:pt x="403289" y="7672"/>
                  </a:cubicBezTo>
                  <a:cubicBezTo>
                    <a:pt x="474409" y="-10108"/>
                    <a:pt x="539179" y="6402"/>
                    <a:pt x="620459" y="22912"/>
                  </a:cubicBezTo>
                  <a:cubicBezTo>
                    <a:pt x="727139" y="44502"/>
                    <a:pt x="880809" y="102922"/>
                    <a:pt x="986219" y="148642"/>
                  </a:cubicBezTo>
                  <a:cubicBezTo>
                    <a:pt x="1072579" y="185472"/>
                    <a:pt x="1137349" y="213412"/>
                    <a:pt x="1214819" y="268022"/>
                  </a:cubicBezTo>
                  <a:cubicBezTo>
                    <a:pt x="1310069" y="335332"/>
                    <a:pt x="1419289" y="444552"/>
                    <a:pt x="1508189" y="534722"/>
                  </a:cubicBezTo>
                  <a:cubicBezTo>
                    <a:pt x="1590739" y="616002"/>
                    <a:pt x="1673289" y="716332"/>
                    <a:pt x="1731709" y="782372"/>
                  </a:cubicBezTo>
                  <a:cubicBezTo>
                    <a:pt x="1768539" y="825552"/>
                    <a:pt x="1788859" y="845872"/>
                    <a:pt x="1823149" y="891592"/>
                  </a:cubicBezTo>
                  <a:cubicBezTo>
                    <a:pt x="1872679" y="957632"/>
                    <a:pt x="1934909" y="1049072"/>
                    <a:pt x="1993329" y="1145592"/>
                  </a:cubicBezTo>
                  <a:cubicBezTo>
                    <a:pt x="2066989" y="1264972"/>
                    <a:pt x="2168589" y="1414832"/>
                    <a:pt x="2225739" y="1559612"/>
                  </a:cubicBezTo>
                  <a:cubicBezTo>
                    <a:pt x="2280349" y="1703122"/>
                    <a:pt x="2309559" y="1872032"/>
                    <a:pt x="2331149" y="2009192"/>
                  </a:cubicBezTo>
                  <a:cubicBezTo>
                    <a:pt x="2348929" y="2122222"/>
                    <a:pt x="2352739" y="2200962"/>
                    <a:pt x="2356549" y="2320342"/>
                  </a:cubicBezTo>
                  <a:cubicBezTo>
                    <a:pt x="2361629" y="2482902"/>
                    <a:pt x="2355279" y="2741982"/>
                    <a:pt x="2346389" y="2895652"/>
                  </a:cubicBezTo>
                  <a:cubicBezTo>
                    <a:pt x="2341309" y="2999792"/>
                    <a:pt x="2341309" y="3059482"/>
                    <a:pt x="2322259" y="3156002"/>
                  </a:cubicBezTo>
                  <a:cubicBezTo>
                    <a:pt x="2296859" y="3286812"/>
                    <a:pt x="2239709" y="3483662"/>
                    <a:pt x="2188909" y="3601772"/>
                  </a:cubicBezTo>
                  <a:cubicBezTo>
                    <a:pt x="2152079" y="3686862"/>
                    <a:pt x="2120329" y="3742742"/>
                    <a:pt x="2069529" y="3807512"/>
                  </a:cubicBezTo>
                  <a:cubicBezTo>
                    <a:pt x="2013649" y="3879902"/>
                    <a:pt x="1928559" y="3939592"/>
                    <a:pt x="1863789" y="4008172"/>
                  </a:cubicBezTo>
                  <a:cubicBezTo>
                    <a:pt x="1800289" y="4074212"/>
                    <a:pt x="1744409" y="4150412"/>
                    <a:pt x="1682179" y="4211372"/>
                  </a:cubicBezTo>
                  <a:cubicBezTo>
                    <a:pt x="1625029" y="4268522"/>
                    <a:pt x="1567879" y="4319322"/>
                    <a:pt x="1506919" y="4365042"/>
                  </a:cubicBezTo>
                  <a:cubicBezTo>
                    <a:pt x="1451039" y="4406952"/>
                    <a:pt x="1398969" y="4442512"/>
                    <a:pt x="1335469" y="4475532"/>
                  </a:cubicBezTo>
                  <a:cubicBezTo>
                    <a:pt x="1263079" y="4512362"/>
                    <a:pt x="1180529" y="4544112"/>
                    <a:pt x="1092899" y="4572052"/>
                  </a:cubicBezTo>
                  <a:cubicBezTo>
                    <a:pt x="995109" y="4602532"/>
                    <a:pt x="869379" y="4634282"/>
                    <a:pt x="774129" y="4644442"/>
                  </a:cubicBezTo>
                  <a:cubicBezTo>
                    <a:pt x="697929" y="4653332"/>
                    <a:pt x="593789" y="4658412"/>
                    <a:pt x="567119" y="4645712"/>
                  </a:cubicBezTo>
                  <a:cubicBezTo>
                    <a:pt x="559499" y="4640632"/>
                    <a:pt x="554419" y="4633012"/>
                    <a:pt x="555689" y="4627932"/>
                  </a:cubicBezTo>
                  <a:cubicBezTo>
                    <a:pt x="555689" y="4622852"/>
                    <a:pt x="570929" y="4613962"/>
                    <a:pt x="570929" y="4613962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2032635" y="3029902"/>
            <a:ext cx="937260" cy="769620"/>
            <a:chOff x="0" y="0"/>
            <a:chExt cx="1249680" cy="1026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7390" y="48287"/>
              <a:ext cx="1152899" cy="926611"/>
            </a:xfrm>
            <a:custGeom>
              <a:avLst/>
              <a:gdLst/>
              <a:ahLst/>
              <a:cxnLst/>
              <a:rect r="r" b="b" t="t" l="l"/>
              <a:pathLst>
                <a:path h="926611" w="1152899">
                  <a:moveTo>
                    <a:pt x="779380" y="199363"/>
                  </a:moveTo>
                  <a:cubicBezTo>
                    <a:pt x="284080" y="189203"/>
                    <a:pt x="248520" y="203173"/>
                    <a:pt x="214230" y="226033"/>
                  </a:cubicBezTo>
                  <a:cubicBezTo>
                    <a:pt x="182480" y="246353"/>
                    <a:pt x="159620" y="276833"/>
                    <a:pt x="136760" y="307313"/>
                  </a:cubicBezTo>
                  <a:cubicBezTo>
                    <a:pt x="112630" y="339063"/>
                    <a:pt x="88500" y="372083"/>
                    <a:pt x="73260" y="411453"/>
                  </a:cubicBezTo>
                  <a:cubicBezTo>
                    <a:pt x="54210" y="458443"/>
                    <a:pt x="42780" y="519403"/>
                    <a:pt x="36430" y="574013"/>
                  </a:cubicBezTo>
                  <a:cubicBezTo>
                    <a:pt x="30080" y="626083"/>
                    <a:pt x="23730" y="692123"/>
                    <a:pt x="31350" y="730223"/>
                  </a:cubicBezTo>
                  <a:cubicBezTo>
                    <a:pt x="36430" y="754353"/>
                    <a:pt x="42780" y="769593"/>
                    <a:pt x="55480" y="786103"/>
                  </a:cubicBezTo>
                  <a:cubicBezTo>
                    <a:pt x="71990" y="806423"/>
                    <a:pt x="101200" y="824203"/>
                    <a:pt x="127870" y="839443"/>
                  </a:cubicBezTo>
                  <a:cubicBezTo>
                    <a:pt x="157080" y="855953"/>
                    <a:pt x="183750" y="872463"/>
                    <a:pt x="225660" y="882623"/>
                  </a:cubicBezTo>
                  <a:cubicBezTo>
                    <a:pt x="291700" y="899133"/>
                    <a:pt x="421240" y="900403"/>
                    <a:pt x="497440" y="896593"/>
                  </a:cubicBezTo>
                  <a:cubicBezTo>
                    <a:pt x="553320" y="895323"/>
                    <a:pt x="592690" y="892783"/>
                    <a:pt x="642220" y="878813"/>
                  </a:cubicBezTo>
                  <a:cubicBezTo>
                    <a:pt x="699370" y="863573"/>
                    <a:pt x="761600" y="833093"/>
                    <a:pt x="818750" y="800073"/>
                  </a:cubicBezTo>
                  <a:cubicBezTo>
                    <a:pt x="880980" y="764513"/>
                    <a:pt x="954640" y="718793"/>
                    <a:pt x="1000360" y="669263"/>
                  </a:cubicBezTo>
                  <a:cubicBezTo>
                    <a:pt x="1039730" y="628623"/>
                    <a:pt x="1067670" y="577823"/>
                    <a:pt x="1085450" y="534643"/>
                  </a:cubicBezTo>
                  <a:cubicBezTo>
                    <a:pt x="1100690" y="497813"/>
                    <a:pt x="1104500" y="468603"/>
                    <a:pt x="1110850" y="426693"/>
                  </a:cubicBezTo>
                  <a:cubicBezTo>
                    <a:pt x="1118470" y="369543"/>
                    <a:pt x="1128630" y="271753"/>
                    <a:pt x="1122280" y="222223"/>
                  </a:cubicBezTo>
                  <a:cubicBezTo>
                    <a:pt x="1117200" y="190473"/>
                    <a:pt x="1114660" y="171423"/>
                    <a:pt x="1096880" y="148563"/>
                  </a:cubicBezTo>
                  <a:cubicBezTo>
                    <a:pt x="1070210" y="114273"/>
                    <a:pt x="1006710" y="74903"/>
                    <a:pt x="954640" y="55853"/>
                  </a:cubicBezTo>
                  <a:cubicBezTo>
                    <a:pt x="901300" y="36803"/>
                    <a:pt x="828910" y="36803"/>
                    <a:pt x="780650" y="32993"/>
                  </a:cubicBezTo>
                  <a:cubicBezTo>
                    <a:pt x="745090" y="30453"/>
                    <a:pt x="719690" y="26643"/>
                    <a:pt x="687940" y="30453"/>
                  </a:cubicBezTo>
                  <a:cubicBezTo>
                    <a:pt x="654920" y="35533"/>
                    <a:pt x="610470" y="44423"/>
                    <a:pt x="586340" y="62203"/>
                  </a:cubicBezTo>
                  <a:cubicBezTo>
                    <a:pt x="566020" y="77443"/>
                    <a:pt x="558400" y="118083"/>
                    <a:pt x="545700" y="123163"/>
                  </a:cubicBezTo>
                  <a:cubicBezTo>
                    <a:pt x="539350" y="125703"/>
                    <a:pt x="530460" y="123163"/>
                    <a:pt x="527920" y="119353"/>
                  </a:cubicBezTo>
                  <a:cubicBezTo>
                    <a:pt x="524110" y="115543"/>
                    <a:pt x="522840" y="102843"/>
                    <a:pt x="526650" y="100303"/>
                  </a:cubicBezTo>
                  <a:cubicBezTo>
                    <a:pt x="530460" y="96493"/>
                    <a:pt x="553320" y="100303"/>
                    <a:pt x="554590" y="104113"/>
                  </a:cubicBezTo>
                  <a:cubicBezTo>
                    <a:pt x="555860" y="107923"/>
                    <a:pt x="538080" y="124433"/>
                    <a:pt x="533000" y="123163"/>
                  </a:cubicBezTo>
                  <a:cubicBezTo>
                    <a:pt x="529190" y="121893"/>
                    <a:pt x="524110" y="110463"/>
                    <a:pt x="525380" y="101573"/>
                  </a:cubicBezTo>
                  <a:cubicBezTo>
                    <a:pt x="527920" y="85063"/>
                    <a:pt x="554590" y="50773"/>
                    <a:pt x="578720" y="34263"/>
                  </a:cubicBezTo>
                  <a:cubicBezTo>
                    <a:pt x="606660" y="16483"/>
                    <a:pt x="644760" y="7593"/>
                    <a:pt x="687940" y="2513"/>
                  </a:cubicBezTo>
                  <a:cubicBezTo>
                    <a:pt x="747630" y="-5107"/>
                    <a:pt x="854310" y="6323"/>
                    <a:pt x="903840" y="13943"/>
                  </a:cubicBezTo>
                  <a:cubicBezTo>
                    <a:pt x="931780" y="17753"/>
                    <a:pt x="943210" y="19023"/>
                    <a:pt x="968610" y="30453"/>
                  </a:cubicBezTo>
                  <a:cubicBezTo>
                    <a:pt x="1010520" y="49503"/>
                    <a:pt x="1094340" y="99033"/>
                    <a:pt x="1123550" y="137133"/>
                  </a:cubicBezTo>
                  <a:cubicBezTo>
                    <a:pt x="1142600" y="163803"/>
                    <a:pt x="1145140" y="186663"/>
                    <a:pt x="1150220" y="220953"/>
                  </a:cubicBezTo>
                  <a:cubicBezTo>
                    <a:pt x="1157840" y="275563"/>
                    <a:pt x="1147680" y="374623"/>
                    <a:pt x="1138790" y="434313"/>
                  </a:cubicBezTo>
                  <a:cubicBezTo>
                    <a:pt x="1132440" y="477493"/>
                    <a:pt x="1126090" y="510513"/>
                    <a:pt x="1112120" y="546073"/>
                  </a:cubicBezTo>
                  <a:cubicBezTo>
                    <a:pt x="1096880" y="582903"/>
                    <a:pt x="1075290" y="618463"/>
                    <a:pt x="1051160" y="650213"/>
                  </a:cubicBezTo>
                  <a:cubicBezTo>
                    <a:pt x="1029570" y="680693"/>
                    <a:pt x="1005440" y="707363"/>
                    <a:pt x="977500" y="732763"/>
                  </a:cubicBezTo>
                  <a:cubicBezTo>
                    <a:pt x="948290" y="758163"/>
                    <a:pt x="921620" y="777213"/>
                    <a:pt x="882250" y="800073"/>
                  </a:cubicBezTo>
                  <a:cubicBezTo>
                    <a:pt x="821290" y="835633"/>
                    <a:pt x="715880" y="887703"/>
                    <a:pt x="644760" y="908023"/>
                  </a:cubicBezTo>
                  <a:cubicBezTo>
                    <a:pt x="591420" y="923263"/>
                    <a:pt x="552050" y="923263"/>
                    <a:pt x="497440" y="925803"/>
                  </a:cubicBezTo>
                  <a:cubicBezTo>
                    <a:pt x="430130" y="928343"/>
                    <a:pt x="323450" y="924533"/>
                    <a:pt x="272650" y="919453"/>
                  </a:cubicBezTo>
                  <a:cubicBezTo>
                    <a:pt x="247250" y="916913"/>
                    <a:pt x="235820" y="915643"/>
                    <a:pt x="214230" y="909293"/>
                  </a:cubicBezTo>
                  <a:cubicBezTo>
                    <a:pt x="183750" y="900403"/>
                    <a:pt x="140570" y="880083"/>
                    <a:pt x="110090" y="861033"/>
                  </a:cubicBezTo>
                  <a:cubicBezTo>
                    <a:pt x="79610" y="843253"/>
                    <a:pt x="47860" y="824203"/>
                    <a:pt x="30080" y="800073"/>
                  </a:cubicBezTo>
                  <a:cubicBezTo>
                    <a:pt x="14840" y="779753"/>
                    <a:pt x="8490" y="760703"/>
                    <a:pt x="3410" y="731493"/>
                  </a:cubicBezTo>
                  <a:cubicBezTo>
                    <a:pt x="-5480" y="679423"/>
                    <a:pt x="4680" y="572743"/>
                    <a:pt x="14840" y="511783"/>
                  </a:cubicBezTo>
                  <a:cubicBezTo>
                    <a:pt x="22460" y="466063"/>
                    <a:pt x="32620" y="433043"/>
                    <a:pt x="47860" y="397483"/>
                  </a:cubicBezTo>
                  <a:cubicBezTo>
                    <a:pt x="65640" y="359383"/>
                    <a:pt x="89770" y="320013"/>
                    <a:pt x="115170" y="286993"/>
                  </a:cubicBezTo>
                  <a:cubicBezTo>
                    <a:pt x="141840" y="255243"/>
                    <a:pt x="167240" y="220953"/>
                    <a:pt x="202800" y="199363"/>
                  </a:cubicBezTo>
                  <a:cubicBezTo>
                    <a:pt x="242170" y="175233"/>
                    <a:pt x="280270" y="159993"/>
                    <a:pt x="339960" y="149833"/>
                  </a:cubicBezTo>
                  <a:cubicBezTo>
                    <a:pt x="444100" y="134593"/>
                    <a:pt x="738740" y="143483"/>
                    <a:pt x="783190" y="167613"/>
                  </a:cubicBezTo>
                  <a:cubicBezTo>
                    <a:pt x="793350" y="172693"/>
                    <a:pt x="797160" y="181583"/>
                    <a:pt x="797160" y="186663"/>
                  </a:cubicBezTo>
                  <a:cubicBezTo>
                    <a:pt x="795890" y="191743"/>
                    <a:pt x="779380" y="199363"/>
                    <a:pt x="779380" y="199363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045970" y="3629978"/>
            <a:ext cx="976312" cy="1048702"/>
            <a:chOff x="0" y="0"/>
            <a:chExt cx="1301750" cy="13982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5370" y="48296"/>
              <a:ext cx="1205688" cy="1299738"/>
            </a:xfrm>
            <a:custGeom>
              <a:avLst/>
              <a:gdLst/>
              <a:ahLst/>
              <a:cxnLst/>
              <a:rect r="r" b="b" t="t" l="l"/>
              <a:pathLst>
                <a:path h="1299738" w="1205688">
                  <a:moveTo>
                    <a:pt x="951580" y="294604"/>
                  </a:moveTo>
                  <a:cubicBezTo>
                    <a:pt x="617570" y="298414"/>
                    <a:pt x="524860" y="304764"/>
                    <a:pt x="449930" y="327624"/>
                  </a:cubicBezTo>
                  <a:cubicBezTo>
                    <a:pt x="385160" y="349214"/>
                    <a:pt x="325470" y="384774"/>
                    <a:pt x="274670" y="419064"/>
                  </a:cubicBezTo>
                  <a:cubicBezTo>
                    <a:pt x="232760" y="448274"/>
                    <a:pt x="198470" y="472404"/>
                    <a:pt x="164180" y="513044"/>
                  </a:cubicBezTo>
                  <a:cubicBezTo>
                    <a:pt x="123540" y="562574"/>
                    <a:pt x="80360" y="627344"/>
                    <a:pt x="57500" y="701004"/>
                  </a:cubicBezTo>
                  <a:cubicBezTo>
                    <a:pt x="29560" y="793714"/>
                    <a:pt x="19400" y="941034"/>
                    <a:pt x="34640" y="1032474"/>
                  </a:cubicBezTo>
                  <a:cubicBezTo>
                    <a:pt x="44800" y="1099784"/>
                    <a:pt x="76550" y="1167094"/>
                    <a:pt x="103220" y="1201384"/>
                  </a:cubicBezTo>
                  <a:cubicBezTo>
                    <a:pt x="119730" y="1222974"/>
                    <a:pt x="132430" y="1231864"/>
                    <a:pt x="155290" y="1242024"/>
                  </a:cubicBezTo>
                  <a:cubicBezTo>
                    <a:pt x="189580" y="1257264"/>
                    <a:pt x="248000" y="1261074"/>
                    <a:pt x="296260" y="1266154"/>
                  </a:cubicBezTo>
                  <a:cubicBezTo>
                    <a:pt x="345790" y="1271234"/>
                    <a:pt x="394050" y="1275044"/>
                    <a:pt x="448660" y="1271234"/>
                  </a:cubicBezTo>
                  <a:cubicBezTo>
                    <a:pt x="510890" y="1264884"/>
                    <a:pt x="578200" y="1252184"/>
                    <a:pt x="649320" y="1229324"/>
                  </a:cubicBezTo>
                  <a:cubicBezTo>
                    <a:pt x="738220" y="1200114"/>
                    <a:pt x="881730" y="1118834"/>
                    <a:pt x="938880" y="1101054"/>
                  </a:cubicBezTo>
                  <a:cubicBezTo>
                    <a:pt x="961740" y="1093434"/>
                    <a:pt x="970630" y="1101054"/>
                    <a:pt x="988410" y="1092164"/>
                  </a:cubicBezTo>
                  <a:cubicBezTo>
                    <a:pt x="1017620" y="1078194"/>
                    <a:pt x="1058260" y="1037554"/>
                    <a:pt x="1083660" y="1008344"/>
                  </a:cubicBezTo>
                  <a:cubicBezTo>
                    <a:pt x="1103980" y="984214"/>
                    <a:pt x="1116680" y="961354"/>
                    <a:pt x="1129380" y="934684"/>
                  </a:cubicBezTo>
                  <a:cubicBezTo>
                    <a:pt x="1142080" y="904204"/>
                    <a:pt x="1150970" y="873724"/>
                    <a:pt x="1158590" y="835624"/>
                  </a:cubicBezTo>
                  <a:cubicBezTo>
                    <a:pt x="1168750" y="782284"/>
                    <a:pt x="1176370" y="693384"/>
                    <a:pt x="1176370" y="641314"/>
                  </a:cubicBezTo>
                  <a:cubicBezTo>
                    <a:pt x="1176370" y="607024"/>
                    <a:pt x="1172560" y="580354"/>
                    <a:pt x="1167480" y="553684"/>
                  </a:cubicBezTo>
                  <a:cubicBezTo>
                    <a:pt x="1164940" y="528284"/>
                    <a:pt x="1163670" y="510504"/>
                    <a:pt x="1154780" y="483834"/>
                  </a:cubicBezTo>
                  <a:cubicBezTo>
                    <a:pt x="1140810" y="441924"/>
                    <a:pt x="1117950" y="382234"/>
                    <a:pt x="1083660" y="330164"/>
                  </a:cubicBezTo>
                  <a:cubicBezTo>
                    <a:pt x="1041750" y="265394"/>
                    <a:pt x="968090" y="176494"/>
                    <a:pt x="910940" y="132044"/>
                  </a:cubicBezTo>
                  <a:cubicBezTo>
                    <a:pt x="867760" y="97754"/>
                    <a:pt x="832200" y="82514"/>
                    <a:pt x="780130" y="67274"/>
                  </a:cubicBezTo>
                  <a:cubicBezTo>
                    <a:pt x="709010" y="45684"/>
                    <a:pt x="545180" y="53304"/>
                    <a:pt x="518510" y="31714"/>
                  </a:cubicBezTo>
                  <a:cubicBezTo>
                    <a:pt x="509620" y="25364"/>
                    <a:pt x="507080" y="15204"/>
                    <a:pt x="509620" y="11394"/>
                  </a:cubicBezTo>
                  <a:cubicBezTo>
                    <a:pt x="512160" y="7584"/>
                    <a:pt x="536290" y="7584"/>
                    <a:pt x="537560" y="10124"/>
                  </a:cubicBezTo>
                  <a:cubicBezTo>
                    <a:pt x="538830" y="13934"/>
                    <a:pt x="524860" y="32984"/>
                    <a:pt x="519780" y="32984"/>
                  </a:cubicBezTo>
                  <a:cubicBezTo>
                    <a:pt x="515970" y="32984"/>
                    <a:pt x="508350" y="22824"/>
                    <a:pt x="508350" y="17744"/>
                  </a:cubicBezTo>
                  <a:cubicBezTo>
                    <a:pt x="508350" y="12664"/>
                    <a:pt x="512160" y="6314"/>
                    <a:pt x="518510" y="2504"/>
                  </a:cubicBezTo>
                  <a:cubicBezTo>
                    <a:pt x="531210" y="-2576"/>
                    <a:pt x="554070" y="1234"/>
                    <a:pt x="580740" y="3774"/>
                  </a:cubicBezTo>
                  <a:cubicBezTo>
                    <a:pt x="630270" y="8854"/>
                    <a:pt x="744570" y="26634"/>
                    <a:pt x="791560" y="40604"/>
                  </a:cubicBezTo>
                  <a:cubicBezTo>
                    <a:pt x="815690" y="48224"/>
                    <a:pt x="825850" y="54574"/>
                    <a:pt x="844900" y="63464"/>
                  </a:cubicBezTo>
                  <a:cubicBezTo>
                    <a:pt x="871570" y="77434"/>
                    <a:pt x="900780" y="87594"/>
                    <a:pt x="931260" y="112994"/>
                  </a:cubicBezTo>
                  <a:cubicBezTo>
                    <a:pt x="983330" y="154904"/>
                    <a:pt x="1065880" y="248884"/>
                    <a:pt x="1109060" y="316194"/>
                  </a:cubicBezTo>
                  <a:cubicBezTo>
                    <a:pt x="1144620" y="370804"/>
                    <a:pt x="1166210" y="422874"/>
                    <a:pt x="1182720" y="477484"/>
                  </a:cubicBezTo>
                  <a:cubicBezTo>
                    <a:pt x="1197960" y="532094"/>
                    <a:pt x="1204310" y="585434"/>
                    <a:pt x="1205580" y="643854"/>
                  </a:cubicBezTo>
                  <a:cubicBezTo>
                    <a:pt x="1206850" y="707354"/>
                    <a:pt x="1196690" y="787364"/>
                    <a:pt x="1186530" y="843244"/>
                  </a:cubicBezTo>
                  <a:cubicBezTo>
                    <a:pt x="1177640" y="883884"/>
                    <a:pt x="1168750" y="916904"/>
                    <a:pt x="1153510" y="948654"/>
                  </a:cubicBezTo>
                  <a:cubicBezTo>
                    <a:pt x="1140810" y="977864"/>
                    <a:pt x="1126840" y="1001994"/>
                    <a:pt x="1105250" y="1027394"/>
                  </a:cubicBezTo>
                  <a:cubicBezTo>
                    <a:pt x="1077310" y="1059144"/>
                    <a:pt x="1025240" y="1106134"/>
                    <a:pt x="994760" y="1118834"/>
                  </a:cubicBezTo>
                  <a:cubicBezTo>
                    <a:pt x="978250" y="1126454"/>
                    <a:pt x="970630" y="1120104"/>
                    <a:pt x="951580" y="1126454"/>
                  </a:cubicBezTo>
                  <a:cubicBezTo>
                    <a:pt x="909670" y="1139154"/>
                    <a:pt x="818230" y="1193764"/>
                    <a:pt x="752190" y="1220434"/>
                  </a:cubicBezTo>
                  <a:cubicBezTo>
                    <a:pt x="688690" y="1245834"/>
                    <a:pt x="618840" y="1272504"/>
                    <a:pt x="562960" y="1285204"/>
                  </a:cubicBezTo>
                  <a:cubicBezTo>
                    <a:pt x="521050" y="1295364"/>
                    <a:pt x="493110" y="1297904"/>
                    <a:pt x="447390" y="1299174"/>
                  </a:cubicBezTo>
                  <a:cubicBezTo>
                    <a:pt x="382620" y="1301714"/>
                    <a:pt x="264510" y="1295364"/>
                    <a:pt x="209900" y="1286474"/>
                  </a:cubicBezTo>
                  <a:cubicBezTo>
                    <a:pt x="178150" y="1280124"/>
                    <a:pt x="160370" y="1276314"/>
                    <a:pt x="137510" y="1264884"/>
                  </a:cubicBezTo>
                  <a:cubicBezTo>
                    <a:pt x="115920" y="1253454"/>
                    <a:pt x="96870" y="1240754"/>
                    <a:pt x="79090" y="1216624"/>
                  </a:cubicBezTo>
                  <a:cubicBezTo>
                    <a:pt x="49880" y="1177254"/>
                    <a:pt x="16860" y="1101054"/>
                    <a:pt x="5430" y="1032474"/>
                  </a:cubicBezTo>
                  <a:cubicBezTo>
                    <a:pt x="-8540" y="952464"/>
                    <a:pt x="7970" y="826734"/>
                    <a:pt x="15590" y="764504"/>
                  </a:cubicBezTo>
                  <a:cubicBezTo>
                    <a:pt x="19400" y="731484"/>
                    <a:pt x="20670" y="718784"/>
                    <a:pt x="32100" y="689574"/>
                  </a:cubicBezTo>
                  <a:cubicBezTo>
                    <a:pt x="51150" y="637504"/>
                    <a:pt x="101950" y="543524"/>
                    <a:pt x="145130" y="491454"/>
                  </a:cubicBezTo>
                  <a:cubicBezTo>
                    <a:pt x="180690" y="449544"/>
                    <a:pt x="216250" y="422874"/>
                    <a:pt x="261970" y="393664"/>
                  </a:cubicBezTo>
                  <a:cubicBezTo>
                    <a:pt x="315310" y="358104"/>
                    <a:pt x="378810" y="321274"/>
                    <a:pt x="447390" y="299684"/>
                  </a:cubicBezTo>
                  <a:cubicBezTo>
                    <a:pt x="523590" y="275554"/>
                    <a:pt x="616300" y="270474"/>
                    <a:pt x="701390" y="264124"/>
                  </a:cubicBezTo>
                  <a:cubicBezTo>
                    <a:pt x="785210" y="257774"/>
                    <a:pt x="919830" y="248884"/>
                    <a:pt x="951580" y="262854"/>
                  </a:cubicBezTo>
                  <a:cubicBezTo>
                    <a:pt x="961740" y="267934"/>
                    <a:pt x="968090" y="275554"/>
                    <a:pt x="966820" y="280634"/>
                  </a:cubicBezTo>
                  <a:cubicBezTo>
                    <a:pt x="966820" y="285714"/>
                    <a:pt x="951580" y="294604"/>
                    <a:pt x="951580" y="29460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713345" y="5253038"/>
            <a:ext cx="922020" cy="1049655"/>
            <a:chOff x="0" y="0"/>
            <a:chExt cx="1229360" cy="13995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4450" y="47836"/>
              <a:ext cx="1136385" cy="1302174"/>
            </a:xfrm>
            <a:custGeom>
              <a:avLst/>
              <a:gdLst/>
              <a:ahLst/>
              <a:cxnLst/>
              <a:rect r="r" b="b" t="t" l="l"/>
              <a:pathLst>
                <a:path h="1302174" w="1136385">
                  <a:moveTo>
                    <a:pt x="821690" y="145204"/>
                  </a:moveTo>
                  <a:cubicBezTo>
                    <a:pt x="674370" y="150284"/>
                    <a:pt x="638810" y="160444"/>
                    <a:pt x="594360" y="175684"/>
                  </a:cubicBezTo>
                  <a:cubicBezTo>
                    <a:pt x="530860" y="196004"/>
                    <a:pt x="427990" y="236644"/>
                    <a:pt x="373380" y="267124"/>
                  </a:cubicBezTo>
                  <a:cubicBezTo>
                    <a:pt x="339090" y="286174"/>
                    <a:pt x="323850" y="296334"/>
                    <a:pt x="293370" y="323004"/>
                  </a:cubicBezTo>
                  <a:cubicBezTo>
                    <a:pt x="245110" y="367454"/>
                    <a:pt x="161290" y="462704"/>
                    <a:pt x="119380" y="523664"/>
                  </a:cubicBezTo>
                  <a:cubicBezTo>
                    <a:pt x="90170" y="568114"/>
                    <a:pt x="71120" y="603674"/>
                    <a:pt x="58420" y="645584"/>
                  </a:cubicBezTo>
                  <a:cubicBezTo>
                    <a:pt x="44450" y="688764"/>
                    <a:pt x="43180" y="731944"/>
                    <a:pt x="39370" y="780204"/>
                  </a:cubicBezTo>
                  <a:cubicBezTo>
                    <a:pt x="34290" y="838624"/>
                    <a:pt x="22860" y="927524"/>
                    <a:pt x="34290" y="970704"/>
                  </a:cubicBezTo>
                  <a:cubicBezTo>
                    <a:pt x="40640" y="996104"/>
                    <a:pt x="58420" y="1010074"/>
                    <a:pt x="68580" y="1025314"/>
                  </a:cubicBezTo>
                  <a:cubicBezTo>
                    <a:pt x="76200" y="1035474"/>
                    <a:pt x="77470" y="1040554"/>
                    <a:pt x="90170" y="1051984"/>
                  </a:cubicBezTo>
                  <a:cubicBezTo>
                    <a:pt x="124460" y="1083734"/>
                    <a:pt x="254000" y="1162474"/>
                    <a:pt x="320040" y="1196764"/>
                  </a:cubicBezTo>
                  <a:cubicBezTo>
                    <a:pt x="365760" y="1222164"/>
                    <a:pt x="392430" y="1238674"/>
                    <a:pt x="441960" y="1250104"/>
                  </a:cubicBezTo>
                  <a:cubicBezTo>
                    <a:pt x="510540" y="1267884"/>
                    <a:pt x="628650" y="1271694"/>
                    <a:pt x="697230" y="1271694"/>
                  </a:cubicBezTo>
                  <a:cubicBezTo>
                    <a:pt x="742950" y="1271694"/>
                    <a:pt x="777240" y="1272964"/>
                    <a:pt x="812800" y="1262804"/>
                  </a:cubicBezTo>
                  <a:cubicBezTo>
                    <a:pt x="850900" y="1251374"/>
                    <a:pt x="885190" y="1229784"/>
                    <a:pt x="918210" y="1205654"/>
                  </a:cubicBezTo>
                  <a:cubicBezTo>
                    <a:pt x="951230" y="1180254"/>
                    <a:pt x="984250" y="1151044"/>
                    <a:pt x="1008380" y="1115484"/>
                  </a:cubicBezTo>
                  <a:cubicBezTo>
                    <a:pt x="1033780" y="1081194"/>
                    <a:pt x="1050290" y="1043094"/>
                    <a:pt x="1064260" y="997374"/>
                  </a:cubicBezTo>
                  <a:cubicBezTo>
                    <a:pt x="1082040" y="941494"/>
                    <a:pt x="1090930" y="871644"/>
                    <a:pt x="1098550" y="797984"/>
                  </a:cubicBezTo>
                  <a:cubicBezTo>
                    <a:pt x="1106170" y="710354"/>
                    <a:pt x="1109980" y="589704"/>
                    <a:pt x="1104900" y="505884"/>
                  </a:cubicBezTo>
                  <a:cubicBezTo>
                    <a:pt x="1101090" y="441114"/>
                    <a:pt x="1098550" y="389044"/>
                    <a:pt x="1079500" y="336974"/>
                  </a:cubicBezTo>
                  <a:cubicBezTo>
                    <a:pt x="1061720" y="284904"/>
                    <a:pt x="1032510" y="236644"/>
                    <a:pt x="994410" y="193464"/>
                  </a:cubicBezTo>
                  <a:cubicBezTo>
                    <a:pt x="953770" y="143934"/>
                    <a:pt x="892810" y="86784"/>
                    <a:pt x="835660" y="58844"/>
                  </a:cubicBezTo>
                  <a:cubicBezTo>
                    <a:pt x="786130" y="34714"/>
                    <a:pt x="685800" y="41064"/>
                    <a:pt x="679450" y="25824"/>
                  </a:cubicBezTo>
                  <a:cubicBezTo>
                    <a:pt x="676910" y="19474"/>
                    <a:pt x="689610" y="2964"/>
                    <a:pt x="694690" y="4234"/>
                  </a:cubicBezTo>
                  <a:cubicBezTo>
                    <a:pt x="698500" y="4234"/>
                    <a:pt x="706120" y="22014"/>
                    <a:pt x="703580" y="25824"/>
                  </a:cubicBezTo>
                  <a:cubicBezTo>
                    <a:pt x="701040" y="29634"/>
                    <a:pt x="681990" y="29634"/>
                    <a:pt x="679450" y="27094"/>
                  </a:cubicBezTo>
                  <a:cubicBezTo>
                    <a:pt x="678180" y="23284"/>
                    <a:pt x="684530" y="8044"/>
                    <a:pt x="692150" y="2964"/>
                  </a:cubicBezTo>
                  <a:cubicBezTo>
                    <a:pt x="707390" y="-4656"/>
                    <a:pt x="749300" y="4234"/>
                    <a:pt x="775970" y="9314"/>
                  </a:cubicBezTo>
                  <a:cubicBezTo>
                    <a:pt x="802640" y="14394"/>
                    <a:pt x="824230" y="19474"/>
                    <a:pt x="852170" y="35984"/>
                  </a:cubicBezTo>
                  <a:cubicBezTo>
                    <a:pt x="899160" y="62654"/>
                    <a:pt x="975360" y="124884"/>
                    <a:pt x="1018540" y="176954"/>
                  </a:cubicBezTo>
                  <a:cubicBezTo>
                    <a:pt x="1057910" y="223944"/>
                    <a:pt x="1088390" y="276014"/>
                    <a:pt x="1107440" y="330624"/>
                  </a:cubicBezTo>
                  <a:cubicBezTo>
                    <a:pt x="1126490" y="385234"/>
                    <a:pt x="1130300" y="439844"/>
                    <a:pt x="1134110" y="505884"/>
                  </a:cubicBezTo>
                  <a:cubicBezTo>
                    <a:pt x="1139190" y="590974"/>
                    <a:pt x="1135380" y="711624"/>
                    <a:pt x="1126490" y="801794"/>
                  </a:cubicBezTo>
                  <a:cubicBezTo>
                    <a:pt x="1118870" y="876724"/>
                    <a:pt x="1108710" y="950384"/>
                    <a:pt x="1089660" y="1010074"/>
                  </a:cubicBezTo>
                  <a:cubicBezTo>
                    <a:pt x="1074420" y="1058334"/>
                    <a:pt x="1056640" y="1098974"/>
                    <a:pt x="1029970" y="1135804"/>
                  </a:cubicBezTo>
                  <a:cubicBezTo>
                    <a:pt x="1003300" y="1172634"/>
                    <a:pt x="967740" y="1204384"/>
                    <a:pt x="930910" y="1231054"/>
                  </a:cubicBezTo>
                  <a:cubicBezTo>
                    <a:pt x="896620" y="1255184"/>
                    <a:pt x="850900" y="1279314"/>
                    <a:pt x="819150" y="1290744"/>
                  </a:cubicBezTo>
                  <a:cubicBezTo>
                    <a:pt x="796290" y="1298364"/>
                    <a:pt x="783590" y="1298364"/>
                    <a:pt x="758190" y="1300904"/>
                  </a:cubicBezTo>
                  <a:cubicBezTo>
                    <a:pt x="712470" y="1303444"/>
                    <a:pt x="627380" y="1302174"/>
                    <a:pt x="568960" y="1297094"/>
                  </a:cubicBezTo>
                  <a:cubicBezTo>
                    <a:pt x="519430" y="1293284"/>
                    <a:pt x="478790" y="1290744"/>
                    <a:pt x="430530" y="1276774"/>
                  </a:cubicBezTo>
                  <a:cubicBezTo>
                    <a:pt x="372110" y="1260264"/>
                    <a:pt x="306070" y="1227244"/>
                    <a:pt x="246380" y="1194224"/>
                  </a:cubicBezTo>
                  <a:cubicBezTo>
                    <a:pt x="185420" y="1158664"/>
                    <a:pt x="107950" y="1114214"/>
                    <a:pt x="67310" y="1071034"/>
                  </a:cubicBezTo>
                  <a:cubicBezTo>
                    <a:pt x="36830" y="1039284"/>
                    <a:pt x="16510" y="1012614"/>
                    <a:pt x="6350" y="971974"/>
                  </a:cubicBezTo>
                  <a:cubicBezTo>
                    <a:pt x="-7620" y="919904"/>
                    <a:pt x="5080" y="837354"/>
                    <a:pt x="10160" y="777664"/>
                  </a:cubicBezTo>
                  <a:cubicBezTo>
                    <a:pt x="15240" y="725594"/>
                    <a:pt x="17780" y="678604"/>
                    <a:pt x="31750" y="634154"/>
                  </a:cubicBezTo>
                  <a:cubicBezTo>
                    <a:pt x="46990" y="588434"/>
                    <a:pt x="66040" y="551604"/>
                    <a:pt x="96520" y="507154"/>
                  </a:cubicBezTo>
                  <a:cubicBezTo>
                    <a:pt x="139700" y="443654"/>
                    <a:pt x="226060" y="345864"/>
                    <a:pt x="276860" y="298874"/>
                  </a:cubicBezTo>
                  <a:cubicBezTo>
                    <a:pt x="308610" y="270934"/>
                    <a:pt x="326390" y="259504"/>
                    <a:pt x="363220" y="239184"/>
                  </a:cubicBezTo>
                  <a:cubicBezTo>
                    <a:pt x="419100" y="208704"/>
                    <a:pt x="524510" y="166794"/>
                    <a:pt x="589280" y="145204"/>
                  </a:cubicBezTo>
                  <a:cubicBezTo>
                    <a:pt x="636270" y="129964"/>
                    <a:pt x="676910" y="118534"/>
                    <a:pt x="713740" y="114724"/>
                  </a:cubicBezTo>
                  <a:cubicBezTo>
                    <a:pt x="741680" y="110914"/>
                    <a:pt x="768350" y="113454"/>
                    <a:pt x="789940" y="114724"/>
                  </a:cubicBezTo>
                  <a:cubicBezTo>
                    <a:pt x="806450" y="114724"/>
                    <a:pt x="825500" y="112184"/>
                    <a:pt x="831850" y="118534"/>
                  </a:cubicBezTo>
                  <a:cubicBezTo>
                    <a:pt x="836930" y="122344"/>
                    <a:pt x="838200" y="131234"/>
                    <a:pt x="835660" y="135044"/>
                  </a:cubicBezTo>
                  <a:cubicBezTo>
                    <a:pt x="834390" y="140124"/>
                    <a:pt x="821690" y="145204"/>
                    <a:pt x="821690" y="145204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870382" y="5977890"/>
            <a:ext cx="284797" cy="175260"/>
            <a:chOff x="0" y="0"/>
            <a:chExt cx="379730" cy="233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559" y="50800"/>
              <a:ext cx="277806" cy="131007"/>
            </a:xfrm>
            <a:custGeom>
              <a:avLst/>
              <a:gdLst/>
              <a:ahLst/>
              <a:cxnLst/>
              <a:rect r="r" b="b" t="t" l="l"/>
              <a:pathLst>
                <a:path h="131007" w="277806">
                  <a:moveTo>
                    <a:pt x="18021" y="0"/>
                  </a:moveTo>
                  <a:cubicBezTo>
                    <a:pt x="151371" y="26670"/>
                    <a:pt x="167881" y="58420"/>
                    <a:pt x="193281" y="72390"/>
                  </a:cubicBezTo>
                  <a:cubicBezTo>
                    <a:pt x="217411" y="86360"/>
                    <a:pt x="263131" y="87630"/>
                    <a:pt x="273291" y="99060"/>
                  </a:cubicBezTo>
                  <a:cubicBezTo>
                    <a:pt x="278371" y="106680"/>
                    <a:pt x="278371" y="116840"/>
                    <a:pt x="277101" y="121920"/>
                  </a:cubicBezTo>
                  <a:cubicBezTo>
                    <a:pt x="274561" y="127000"/>
                    <a:pt x="266941" y="132080"/>
                    <a:pt x="261861" y="130810"/>
                  </a:cubicBezTo>
                  <a:cubicBezTo>
                    <a:pt x="255511" y="130810"/>
                    <a:pt x="241541" y="119380"/>
                    <a:pt x="241541" y="113030"/>
                  </a:cubicBezTo>
                  <a:cubicBezTo>
                    <a:pt x="241541" y="106680"/>
                    <a:pt x="260591" y="93980"/>
                    <a:pt x="266941" y="95250"/>
                  </a:cubicBezTo>
                  <a:cubicBezTo>
                    <a:pt x="272021" y="96520"/>
                    <a:pt x="279641" y="114300"/>
                    <a:pt x="277101" y="120650"/>
                  </a:cubicBezTo>
                  <a:cubicBezTo>
                    <a:pt x="275831" y="125730"/>
                    <a:pt x="266941" y="130810"/>
                    <a:pt x="258051" y="130810"/>
                  </a:cubicBezTo>
                  <a:cubicBezTo>
                    <a:pt x="241541" y="132080"/>
                    <a:pt x="212331" y="119380"/>
                    <a:pt x="188201" y="105410"/>
                  </a:cubicBezTo>
                  <a:cubicBezTo>
                    <a:pt x="157721" y="90170"/>
                    <a:pt x="127241" y="45720"/>
                    <a:pt x="95491" y="35560"/>
                  </a:cubicBezTo>
                  <a:cubicBezTo>
                    <a:pt x="67551" y="25400"/>
                    <a:pt x="24371" y="43180"/>
                    <a:pt x="10401" y="35560"/>
                  </a:cubicBezTo>
                  <a:cubicBezTo>
                    <a:pt x="2781" y="30480"/>
                    <a:pt x="-1029" y="21590"/>
                    <a:pt x="241" y="16510"/>
                  </a:cubicBezTo>
                  <a:cubicBezTo>
                    <a:pt x="1511" y="10160"/>
                    <a:pt x="18021" y="0"/>
                    <a:pt x="18021" y="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857047" y="5953125"/>
            <a:ext cx="297180" cy="226695"/>
            <a:chOff x="0" y="0"/>
            <a:chExt cx="396240" cy="3022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9853" y="49155"/>
              <a:ext cx="295587" cy="201143"/>
            </a:xfrm>
            <a:custGeom>
              <a:avLst/>
              <a:gdLst/>
              <a:ahLst/>
              <a:cxnLst/>
              <a:rect r="r" b="b" t="t" l="l"/>
              <a:pathLst>
                <a:path h="201143" w="295587">
                  <a:moveTo>
                    <a:pt x="282887" y="32125"/>
                  </a:moveTo>
                  <a:cubicBezTo>
                    <a:pt x="50477" y="123565"/>
                    <a:pt x="47937" y="123565"/>
                    <a:pt x="42857" y="129915"/>
                  </a:cubicBezTo>
                  <a:cubicBezTo>
                    <a:pt x="33967" y="142615"/>
                    <a:pt x="39047" y="187065"/>
                    <a:pt x="28887" y="195955"/>
                  </a:cubicBezTo>
                  <a:cubicBezTo>
                    <a:pt x="23807" y="201035"/>
                    <a:pt x="13647" y="202305"/>
                    <a:pt x="9837" y="198495"/>
                  </a:cubicBezTo>
                  <a:cubicBezTo>
                    <a:pt x="4757" y="195955"/>
                    <a:pt x="947" y="179445"/>
                    <a:pt x="3487" y="175635"/>
                  </a:cubicBezTo>
                  <a:cubicBezTo>
                    <a:pt x="7297" y="171825"/>
                    <a:pt x="27617" y="170555"/>
                    <a:pt x="31427" y="175635"/>
                  </a:cubicBezTo>
                  <a:cubicBezTo>
                    <a:pt x="33967" y="179445"/>
                    <a:pt x="26347" y="199765"/>
                    <a:pt x="21267" y="201035"/>
                  </a:cubicBezTo>
                  <a:cubicBezTo>
                    <a:pt x="16187" y="202305"/>
                    <a:pt x="3487" y="192145"/>
                    <a:pt x="947" y="181985"/>
                  </a:cubicBezTo>
                  <a:cubicBezTo>
                    <a:pt x="-2863" y="166745"/>
                    <a:pt x="4757" y="128645"/>
                    <a:pt x="25077" y="105785"/>
                  </a:cubicBezTo>
                  <a:cubicBezTo>
                    <a:pt x="58097" y="66415"/>
                    <a:pt x="183827" y="27045"/>
                    <a:pt x="232087" y="11805"/>
                  </a:cubicBezTo>
                  <a:cubicBezTo>
                    <a:pt x="254947" y="4185"/>
                    <a:pt x="276537" y="-3435"/>
                    <a:pt x="286697" y="1645"/>
                  </a:cubicBezTo>
                  <a:cubicBezTo>
                    <a:pt x="291777" y="4185"/>
                    <a:pt x="295587" y="13075"/>
                    <a:pt x="295587" y="18155"/>
                  </a:cubicBezTo>
                  <a:cubicBezTo>
                    <a:pt x="295587" y="23235"/>
                    <a:pt x="282887" y="32125"/>
                    <a:pt x="282887" y="32125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95325"/>
            <a:ext cx="14790172" cy="10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  <a:spcBef>
                <a:spcPct val="0"/>
              </a:spcBef>
            </a:pPr>
            <a:r>
              <a:rPr lang="en-US" b="true" sz="50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OpenCCG wiki's Spanish example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24885"/>
            <a:ext cx="7931309" cy="467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 {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NUM&lt;2&gt;: sg pl;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PERS&lt;2&gt;: 1st 2nd 3rd;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}</a:t>
            </a:r>
          </a:p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family Intra</a:t>
            </a: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nsV(V) { entry: s&lt;1&gt; \ n&lt;2&gt;; }</a:t>
            </a:r>
          </a:p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word baila: IntransV: 3rd sg;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92640" y="3707750"/>
            <a:ext cx="7566660" cy="865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8"/>
              </a:lnSpc>
              <a:spcBef>
                <a:spcPct val="0"/>
              </a:spcBef>
            </a:pPr>
            <a:r>
              <a:rPr lang="en-US" sz="40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s&lt;2&gt;\n&lt;3&gt;{NUM=sg, PERS=3rd}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24885"/>
            <a:ext cx="9681051" cy="467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 {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NUM&lt;2&gt;:  sg pl;             → NUM routes to index 2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CASE&lt;3&gt;: nom acc;      → CASE routes to index 3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}</a:t>
            </a:r>
          </a:p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family Tra</a:t>
            </a: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nsV { entry: s&lt;1&gt; \ np&lt;2&gt; \ np&lt;3&gt;; }</a:t>
            </a:r>
          </a:p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word liebt: TransV: pl acc;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95325"/>
            <a:ext cx="14790172" cy="10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  <a:spcBef>
                <a:spcPct val="0"/>
              </a:spcBef>
            </a:pPr>
            <a:r>
              <a:rPr lang="en-US" b="true" sz="50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Was beim Parsen passiert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24885"/>
            <a:ext cx="14980286" cy="7840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“der Mann”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Lexikon liefert: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der  → np&lt;2&gt;[nom, masc] / n&lt;2&gt;[nom, masc]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Mann → n&lt;5&gt;[masc]              </a:t>
            </a:r>
          </a:p>
          <a:p>
            <a:pPr algn="l">
              <a:lnSpc>
                <a:spcPts val="6249"/>
              </a:lnSpc>
            </a:pP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Bei Anwendung &gt; müssen sich n&lt;2&gt;[nom, masc] und n&lt;5&gt;[masc] vereinen: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Indizes 2 und 5 werden geunifiziert 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Features: [nom, masc] ⊔ [masc] = [nom, masc]</a:t>
            </a:r>
          </a:p>
          <a:p>
            <a:pPr algn="l">
              <a:lnSpc>
                <a:spcPts val="6249"/>
              </a:lnSpc>
            </a:pPr>
          </a:p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Resultat: np[nom, masc]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95325"/>
            <a:ext cx="14790172" cy="10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  <a:spcBef>
                <a:spcPct val="0"/>
              </a:spcBef>
            </a:pPr>
            <a:r>
              <a:rPr lang="en-US" b="true" sz="50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Inline [feature]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24885"/>
            <a:ext cx="8914448" cy="467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 {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NUM&lt;2&gt;:  sg pl;       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CASE&lt;3&gt;: nom acc;      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}</a:t>
            </a: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family TransV { entry: s&lt;1&gt; \ np&lt;2&gt; \ np&lt;3&gt;; }</a:t>
            </a:r>
          </a:p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word liebt: TransV: pl acc;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7806949"/>
            <a:ext cx="11442913" cy="725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family TransV { entry: s&lt;1&gt; \ np&lt;2&gt;[nom] \ np&lt;3&gt;[acc]; }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95325"/>
            <a:ext cx="14790172" cy="10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  <a:spcBef>
                <a:spcPct val="0"/>
              </a:spcBef>
            </a:pPr>
            <a:r>
              <a:rPr lang="en-US" b="true" sz="50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COUNT(3) tips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24885"/>
            <a:ext cx="10829754" cy="388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COUNT(3) = { aⁿ bⁿ cⁿ | n ≥ 1 } ist nicht kontextfrei</a:t>
            </a:r>
          </a:p>
          <a:p>
            <a:pPr algn="l">
              <a:lnSpc>
                <a:spcPts val="6249"/>
              </a:lnSpc>
            </a:pPr>
          </a:p>
          <a:p>
            <a:pPr algn="l">
              <a:lnSpc>
                <a:spcPts val="6249"/>
              </a:lnSpc>
            </a:pP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 aⁿ bⁿ | n ≥ 1 } ist langweilig</a:t>
            </a:r>
          </a:p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Diese Sprache ist kontextfrei (klassisch: S → aSb | ab)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95325"/>
            <a:ext cx="14790172" cy="109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28"/>
              </a:lnSpc>
              <a:spcBef>
                <a:spcPct val="0"/>
              </a:spcBef>
            </a:pPr>
            <a:r>
              <a:rPr lang="en-US" b="true" sz="504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COUNT(3) tips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24885"/>
            <a:ext cx="10829754" cy="388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COUNT(3) = { aⁿ bⁿ cⁿ | n ≥ 1 } ist nicht kontextfrei</a:t>
            </a:r>
          </a:p>
          <a:p>
            <a:pPr algn="l">
              <a:lnSpc>
                <a:spcPts val="6249"/>
              </a:lnSpc>
            </a:pPr>
          </a:p>
          <a:p>
            <a:pPr algn="l">
              <a:lnSpc>
                <a:spcPts val="6249"/>
              </a:lnSpc>
            </a:pPr>
          </a:p>
          <a:p>
            <a:pPr algn="l">
              <a:lnSpc>
                <a:spcPts val="6249"/>
              </a:lnSpc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 aⁿ bⁿ | n ≥ 1 } ist langweilig</a:t>
            </a:r>
          </a:p>
          <a:p>
            <a:pPr algn="l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Diese Sprache ist kontextfrei (klassisch: S → aSb | ab)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1888" y="1087060"/>
            <a:ext cx="14878005" cy="1725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21"/>
              </a:lnSpc>
              <a:spcBef>
                <a:spcPct val="0"/>
              </a:spcBef>
            </a:pPr>
            <a:r>
              <a:rPr lang="en-US" sz="49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 mer em hans es huus hälfed aastriiche </a:t>
            </a:r>
            <a:r>
              <a:rPr lang="en-US" sz="49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666210" y="1921482"/>
            <a:ext cx="709280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25778" y="1921482"/>
            <a:ext cx="709280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81695" y="1940532"/>
            <a:ext cx="2947414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S\NP\NP/VP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76610" y="1921482"/>
            <a:ext cx="709280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36627" y="1921482"/>
            <a:ext cx="1565346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VP\NP</a:t>
            </a:r>
          </a:p>
        </p:txBody>
      </p:sp>
      <p:sp>
        <p:nvSpPr>
          <p:cNvPr name="AutoShape 8" id="8"/>
          <p:cNvSpPr/>
          <p:nvPr/>
        </p:nvSpPr>
        <p:spPr>
          <a:xfrm>
            <a:off x="2899377" y="1978632"/>
            <a:ext cx="126374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4616673" y="1978632"/>
            <a:ext cx="28063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0756435" y="2016732"/>
            <a:ext cx="23979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998498" y="1978632"/>
            <a:ext cx="218242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3429109" y="1997682"/>
            <a:ext cx="295386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4114243" y="125974"/>
            <a:ext cx="3117396" cy="39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2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 from lecture slides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1888" y="1087060"/>
            <a:ext cx="14878005" cy="1725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21"/>
              </a:lnSpc>
              <a:spcBef>
                <a:spcPct val="0"/>
              </a:spcBef>
            </a:pPr>
            <a:r>
              <a:rPr lang="en-US" sz="49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 mer em hans es huus hälfed aastriiche </a:t>
            </a:r>
            <a:r>
              <a:rPr lang="en-US" sz="49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666210" y="1921482"/>
            <a:ext cx="709280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25778" y="1921482"/>
            <a:ext cx="709280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81695" y="1940532"/>
            <a:ext cx="2947414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S\NP\NP/VP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76610" y="1921482"/>
            <a:ext cx="709280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36627" y="1921482"/>
            <a:ext cx="1565346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VP\NP</a:t>
            </a:r>
          </a:p>
        </p:txBody>
      </p:sp>
      <p:sp>
        <p:nvSpPr>
          <p:cNvPr name="AutoShape 8" id="8"/>
          <p:cNvSpPr/>
          <p:nvPr/>
        </p:nvSpPr>
        <p:spPr>
          <a:xfrm>
            <a:off x="2899377" y="1978632"/>
            <a:ext cx="126374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4616673" y="1978632"/>
            <a:ext cx="28063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0756435" y="2016732"/>
            <a:ext cx="23979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998498" y="1978632"/>
            <a:ext cx="218242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3429109" y="1997682"/>
            <a:ext cx="295386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4114243" y="125974"/>
            <a:ext cx="3117396" cy="39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2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 from lecture slides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43046" y="5724721"/>
            <a:ext cx="11555608" cy="140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23"/>
              </a:lnSpc>
              <a:spcBef>
                <a:spcPct val="0"/>
              </a:spcBef>
            </a:pPr>
            <a:r>
              <a:rPr lang="en-US" sz="64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a₁ </a:t>
            </a:r>
            <a:r>
              <a:rPr lang="en-US" sz="64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a₂   a₃   b₁   b₂   b₃   c₁   c₂   c₃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1888" y="1087060"/>
            <a:ext cx="14878005" cy="1725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21"/>
              </a:lnSpc>
              <a:spcBef>
                <a:spcPct val="0"/>
              </a:spcBef>
            </a:pPr>
            <a:r>
              <a:rPr lang="en-US" sz="49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 mer em hans es huus hälfed aastriiche </a:t>
            </a:r>
            <a:r>
              <a:rPr lang="en-US" sz="49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666210" y="1921482"/>
            <a:ext cx="709280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25778" y="1921482"/>
            <a:ext cx="709280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81695" y="1940532"/>
            <a:ext cx="2947414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S\NP\NP/VP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76610" y="1921482"/>
            <a:ext cx="709280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36627" y="1921482"/>
            <a:ext cx="1565346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VP\NP</a:t>
            </a:r>
          </a:p>
        </p:txBody>
      </p:sp>
      <p:sp>
        <p:nvSpPr>
          <p:cNvPr name="AutoShape 8" id="8"/>
          <p:cNvSpPr/>
          <p:nvPr/>
        </p:nvSpPr>
        <p:spPr>
          <a:xfrm>
            <a:off x="2899377" y="1978632"/>
            <a:ext cx="126374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4616673" y="1978632"/>
            <a:ext cx="28063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0756435" y="2016732"/>
            <a:ext cx="23979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998498" y="1978632"/>
            <a:ext cx="218242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3429109" y="1997682"/>
            <a:ext cx="295386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4114243" y="125974"/>
            <a:ext cx="3117396" cy="39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2"/>
              </a:lnSpc>
              <a:spcBef>
                <a:spcPct val="0"/>
              </a:spcBef>
            </a:pPr>
            <a:r>
              <a:rPr lang="en-US" sz="184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 from lecture slides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43046" y="5724721"/>
            <a:ext cx="11555608" cy="140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23"/>
              </a:lnSpc>
              <a:spcBef>
                <a:spcPct val="0"/>
              </a:spcBef>
            </a:pPr>
            <a:r>
              <a:rPr lang="en-US" sz="64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a₁ </a:t>
            </a:r>
            <a:r>
              <a:rPr lang="en-US" sz="64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a₂   a₃   b₁   b₂   b₃   c₁   c₂   c₃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DAHJL5JdgPk</dc:identifier>
  <dcterms:modified xsi:type="dcterms:W3CDTF">2011-08-01T06:04:30Z</dcterms:modified>
  <cp:revision>1</cp:revision>
  <dc:title>Kopie von ccg</dc:title>
</cp:coreProperties>
</file>